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ерцева Алёна" initials="ПА" lastIdx="12" clrIdx="0">
    <p:extLst>
      <p:ext uri="{19B8F6BF-5375-455C-9EA6-DF929625EA0E}">
        <p15:presenceInfo xmlns:p15="http://schemas.microsoft.com/office/powerpoint/2012/main" userId="Перцева Алён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21T13:34:04.896" idx="5">
    <p:pos x="198" y="196"/>
    <p:text>При дизайне учитываем, что этот слайд от лица Тео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21T12:43:36.856" idx="1">
    <p:pos x="4036" y="1096"/>
    <p:text>тут добавляем Тео и "облака тегов" к нему или диалоговвые окна с примерам запросов.
Важно: диалоговые окна должны быть не от него, а как бы со стороны. чтобы было понятно, что вопрос задается ему</p:text>
    <p:extLst>
      <p:ext uri="{C676402C-5697-4E1C-873F-D02D1690AC5C}">
        <p15:threadingInfo xmlns:p15="http://schemas.microsoft.com/office/powerpoint/2012/main" timeZoneBias="-180"/>
      </p:ext>
    </p:extLst>
  </p:cm>
  <p:cm authorId="1" dt="2026-07-21T12:47:48.293" idx="3">
    <p:pos x="5788" y="2128"/>
    <p:text>Можно к изображению Тео прилепить как-нибудь плашечку с надписью в духе "Думаю..." / "Считаю...". На картинке пример, как это выглядит в системе. 
Мол, вот вокруг него летают запросы, а он в процессе.</p:text>
    <p:extLst>
      <p:ext uri="{C676402C-5697-4E1C-873F-D02D1690AC5C}">
        <p15:threadingInfo xmlns:p15="http://schemas.microsoft.com/office/powerpoint/2012/main" timeZoneBias="-180"/>
      </p:ext>
    </p:extLst>
  </p:cm>
  <p:cm authorId="1" dt="2026-07-21T17:18:13.266" idx="9">
    <p:pos x="5788" y="2264"/>
    <p:text>уточняю, в системе оч много вариаций его "думания"</p:text>
    <p:extLst>
      <p:ext uri="{C676402C-5697-4E1C-873F-D02D1690AC5C}">
        <p15:threadingInfo xmlns:p15="http://schemas.microsoft.com/office/powerpoint/2012/main" timeZoneBias="-180">
          <p15:parentCm authorId="1" idx="3"/>
        </p15:threadingInfo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9BAC-4022-42FB-A3E6-FFC3DDA29927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5F4DD-C870-468B-A030-949C9160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9BAC-4022-42FB-A3E6-FFC3DDA29927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5F4DD-C870-468B-A030-949C9160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8877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9BAC-4022-42FB-A3E6-FFC3DDA29927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5F4DD-C870-468B-A030-949C9160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2594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9BAC-4022-42FB-A3E6-FFC3DDA29927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5F4DD-C870-468B-A030-949C9160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293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9BAC-4022-42FB-A3E6-FFC3DDA29927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5F4DD-C870-468B-A030-949C9160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018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9BAC-4022-42FB-A3E6-FFC3DDA29927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5F4DD-C870-468B-A030-949C9160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7359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9BAC-4022-42FB-A3E6-FFC3DDA29927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5F4DD-C870-468B-A030-949C9160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91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9BAC-4022-42FB-A3E6-FFC3DDA29927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5F4DD-C870-468B-A030-949C9160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261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9BAC-4022-42FB-A3E6-FFC3DDA29927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5F4DD-C870-468B-A030-949C9160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1769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9BAC-4022-42FB-A3E6-FFC3DDA29927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5F4DD-C870-468B-A030-949C9160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1402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9BAC-4022-42FB-A3E6-FFC3DDA29927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5F4DD-C870-468B-A030-949C9160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079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D9BAC-4022-42FB-A3E6-FFC3DDA29927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5F4DD-C870-468B-A030-949C9160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554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66824" y="1460500"/>
            <a:ext cx="8048625" cy="2387600"/>
          </a:xfrm>
        </p:spPr>
        <p:txBody>
          <a:bodyPr>
            <a:normAutofit/>
          </a:bodyPr>
          <a:lstStyle/>
          <a:p>
            <a:pPr algn="l"/>
            <a:r>
              <a:rPr lang="ru-RU" sz="4400" dirty="0"/>
              <a:t>Сократите время на подготовку отчетов по командировкам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0992" y="4217194"/>
            <a:ext cx="9144000" cy="436562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Первый на рынке AI-аналитик корпоративных поездок — внутри онлайн-сервиса </a:t>
            </a:r>
            <a:r>
              <a:rPr lang="ru-RU" dirty="0" err="1"/>
              <a:t>Trivio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266825" y="5895975"/>
            <a:ext cx="3314700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Подробнее </a:t>
            </a:r>
            <a:r>
              <a:rPr lang="en-US" b="1" dirty="0">
                <a:latin typeface="Liberation Serif"/>
                <a:ea typeface="AR PL SungtiL GB"/>
                <a:cs typeface="Noto Sans Devanagari"/>
              </a:rPr>
              <a:t>→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1292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91215" y="1787482"/>
            <a:ext cx="570481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ea typeface="AR PL SungtiL GB"/>
                <a:cs typeface="Noto Sans Devanagari"/>
              </a:rPr>
              <a:t>Привет, я </a:t>
            </a:r>
            <a:r>
              <a:rPr lang="en-US" b="1" dirty="0" err="1">
                <a:ea typeface="AR PL SungtiL GB"/>
                <a:cs typeface="Noto Sans Devanagari"/>
              </a:rPr>
              <a:t>Тео</a:t>
            </a:r>
            <a:r>
              <a:rPr lang="en-US" b="1" dirty="0">
                <a:ea typeface="AR PL SungtiL GB"/>
                <a:cs typeface="Noto Sans Devanagari"/>
              </a:rPr>
              <a:t> —</a:t>
            </a:r>
            <a:r>
              <a:rPr lang="ru-RU" b="1" dirty="0">
                <a:ea typeface="AR PL SungtiL GB"/>
                <a:cs typeface="Noto Sans Devanagari"/>
              </a:rPr>
              <a:t> </a:t>
            </a:r>
            <a:r>
              <a:rPr lang="en-US" b="1" dirty="0">
                <a:ea typeface="AR PL SungtiL GB"/>
                <a:cs typeface="Noto Sans Devanagari"/>
              </a:rPr>
              <a:t>AI-</a:t>
            </a:r>
            <a:r>
              <a:rPr lang="en-US" b="1" dirty="0" err="1">
                <a:ea typeface="AR PL SungtiL GB"/>
                <a:cs typeface="Noto Sans Devanagari"/>
              </a:rPr>
              <a:t>аналитик</a:t>
            </a:r>
            <a:r>
              <a:rPr lang="ru-RU" b="1" dirty="0">
                <a:ea typeface="AR PL SungtiL GB"/>
                <a:cs typeface="Noto Sans Devanagari"/>
              </a:rPr>
              <a:t> </a:t>
            </a:r>
            <a:r>
              <a:rPr lang="en-US" b="1" dirty="0" err="1">
                <a:ea typeface="AR PL SungtiL GB"/>
                <a:cs typeface="Noto Sans Devanagari"/>
              </a:rPr>
              <a:t>Trivio</a:t>
            </a:r>
            <a:r>
              <a:rPr lang="ru-RU" b="1" dirty="0">
                <a:ea typeface="AR PL SungtiL GB"/>
                <a:cs typeface="Noto Sans Devanagari"/>
              </a:rPr>
              <a:t>! </a:t>
            </a:r>
            <a:br>
              <a:rPr lang="ru-RU" b="1" dirty="0">
                <a:ea typeface="AR PL SungtiL GB"/>
                <a:cs typeface="Noto Sans Devanagari"/>
              </a:rPr>
            </a:br>
            <a:br>
              <a:rPr lang="ru-RU" b="1" dirty="0">
                <a:ea typeface="AR PL SungtiL GB"/>
                <a:cs typeface="Noto Sans Devanagari"/>
              </a:rPr>
            </a:br>
            <a:r>
              <a:rPr lang="ru-RU" dirty="0"/>
              <a:t>Я быстро нахожу главное в цифрах и умело визуализирую результаты, поэтому всегда готов помочь разобраться в командировочных процессах вашей компании.</a:t>
            </a:r>
          </a:p>
          <a:p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443493" y="3968447"/>
            <a:ext cx="5681332" cy="20933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lang="ru-RU" dirty="0"/>
              <a:t>Спросите меня о расходах, маршрутах, поставщиках или нарушениях </a:t>
            </a:r>
            <a:r>
              <a:rPr lang="ru-RU" dirty="0" err="1"/>
              <a:t>тревел</a:t>
            </a:r>
            <a:r>
              <a:rPr lang="ru-RU" dirty="0"/>
              <a:t>-политики — я рассчитаю показатели по доступным данным и превращу их в понятные выводы, которые можно использовать для отчетов и презентаций.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endParaRPr lang="ru-RU" dirty="0">
              <a:ea typeface="AR PL SungtiL GB"/>
              <a:cs typeface="Noto Sans Devanagari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57890" y="552368"/>
            <a:ext cx="10029160" cy="587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lang="ru-RU" sz="2800" dirty="0">
                <a:latin typeface="+mj-lt"/>
                <a:ea typeface="AR PL SungtiL GB"/>
                <a:cs typeface="Noto Sans Devanagari"/>
              </a:rPr>
              <a:t>Один в</a:t>
            </a:r>
            <a:r>
              <a:rPr lang="en-US" sz="2800" dirty="0" err="1">
                <a:latin typeface="+mj-lt"/>
                <a:ea typeface="AR PL SungtiL GB"/>
                <a:cs typeface="Noto Sans Devanagari"/>
              </a:rPr>
              <a:t>опрос</a:t>
            </a:r>
            <a:r>
              <a:rPr lang="en-US" sz="2800" dirty="0">
                <a:latin typeface="+mj-lt"/>
                <a:ea typeface="AR PL SungtiL GB"/>
                <a:cs typeface="Noto Sans Devanagari"/>
              </a:rPr>
              <a:t> о </a:t>
            </a:r>
            <a:r>
              <a:rPr lang="ru-RU" sz="2800" dirty="0" err="1">
                <a:latin typeface="+mj-lt"/>
                <a:ea typeface="AR PL SungtiL GB"/>
                <a:cs typeface="Noto Sans Devanagari"/>
              </a:rPr>
              <a:t>к</a:t>
            </a:r>
            <a:r>
              <a:rPr lang="en-US" sz="2800" dirty="0" err="1">
                <a:latin typeface="+mj-lt"/>
                <a:ea typeface="AR PL SungtiL GB"/>
                <a:cs typeface="Noto Sans Devanagari"/>
              </a:rPr>
              <a:t>омандировках</a:t>
            </a:r>
            <a:r>
              <a:rPr lang="en-US" sz="2800" dirty="0">
                <a:latin typeface="+mj-lt"/>
                <a:ea typeface="AR PL SungtiL GB"/>
                <a:cs typeface="Noto Sans Devanagari"/>
              </a:rPr>
              <a:t> → </a:t>
            </a:r>
            <a:r>
              <a:rPr lang="en-US" sz="2800" dirty="0" err="1">
                <a:latin typeface="+mj-lt"/>
                <a:ea typeface="AR PL SungtiL GB"/>
                <a:cs typeface="Noto Sans Devanagari"/>
              </a:rPr>
              <a:t>готовый</a:t>
            </a:r>
            <a:r>
              <a:rPr lang="en-US" sz="2800" dirty="0">
                <a:latin typeface="+mj-lt"/>
                <a:ea typeface="AR PL SungtiL GB"/>
                <a:cs typeface="Noto Sans Devanagari"/>
              </a:rPr>
              <a:t> </a:t>
            </a:r>
            <a:r>
              <a:rPr lang="en-US" sz="2800" dirty="0" err="1">
                <a:latin typeface="+mj-lt"/>
                <a:ea typeface="AR PL SungtiL GB"/>
                <a:cs typeface="Noto Sans Devanagari"/>
              </a:rPr>
              <a:t>анализ</a:t>
            </a:r>
            <a:r>
              <a:rPr lang="en-US" sz="2800" dirty="0">
                <a:latin typeface="+mj-lt"/>
                <a:ea typeface="AR PL SungtiL GB"/>
                <a:cs typeface="Noto Sans Devanagari"/>
              </a:rPr>
              <a:t> в </a:t>
            </a:r>
            <a:r>
              <a:rPr lang="en-US" sz="2800" dirty="0" err="1">
                <a:latin typeface="+mj-lt"/>
                <a:ea typeface="AR PL SungtiL GB"/>
                <a:cs typeface="Noto Sans Devanagari"/>
              </a:rPr>
              <a:t>диалоге</a:t>
            </a:r>
            <a:endParaRPr lang="ru-RU" sz="2800" dirty="0">
              <a:latin typeface="+mj-lt"/>
              <a:ea typeface="AR PL SungtiL GB"/>
              <a:cs typeface="Noto Sans Devanagari"/>
            </a:endParaRPr>
          </a:p>
        </p:txBody>
      </p:sp>
    </p:spTree>
    <p:extLst>
      <p:ext uri="{BB962C8B-B14F-4D97-AF65-F5344CB8AC3E}">
        <p14:creationId xmlns:p14="http://schemas.microsoft.com/office/powerpoint/2010/main" val="311138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0126" y="1304823"/>
            <a:ext cx="4761999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Понимает</a:t>
            </a:r>
            <a:r>
              <a:rPr lang="ru-RU" dirty="0"/>
              <a:t> </a:t>
            </a:r>
            <a:r>
              <a:rPr lang="ru-RU" b="1" dirty="0"/>
              <a:t>без сложных команд</a:t>
            </a:r>
            <a:br>
              <a:rPr lang="ru-RU" b="1" dirty="0"/>
            </a:br>
            <a:br>
              <a:rPr lang="ru-RU" sz="2000" b="1" dirty="0"/>
            </a:br>
            <a:r>
              <a:rPr lang="ru-RU" sz="1600" dirty="0"/>
              <a:t>Вам не нужно составлять специальные </a:t>
            </a:r>
            <a:r>
              <a:rPr lang="ru-RU" sz="1600" dirty="0" err="1"/>
              <a:t>промпты</a:t>
            </a:r>
            <a:r>
              <a:rPr lang="ru-RU" sz="1600" dirty="0"/>
              <a:t>, чтобы получить нужный результат. Достаточно сформулировать запрос простыми словами. </a:t>
            </a:r>
            <a:endParaRPr lang="ru-RU" sz="1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810126" y="3964319"/>
            <a:ext cx="456197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Работает с актуальными данными</a:t>
            </a:r>
          </a:p>
          <a:p>
            <a:endParaRPr lang="ru-RU" sz="1600" dirty="0"/>
          </a:p>
          <a:p>
            <a:r>
              <a:rPr lang="ru-RU" sz="1600" dirty="0"/>
              <a:t>Тео анализирует показатели вашей компании в </a:t>
            </a:r>
            <a:r>
              <a:rPr lang="ru-RU" sz="1600" dirty="0" err="1"/>
              <a:t>Trivio</a:t>
            </a:r>
            <a:r>
              <a:rPr lang="ru-RU" sz="1600" dirty="0"/>
              <a:t> в рамках вашего уровня доступа. Сам подбирает нужный срез, выполняет расчеты и дает ответ в подходящем формате: кратким выводом с цифрами, таблицей или наглядным графиком.</a:t>
            </a:r>
            <a:br>
              <a:rPr lang="ru-RU" sz="1600" dirty="0"/>
            </a:br>
            <a:br>
              <a:rPr lang="ru-RU" sz="1600" dirty="0"/>
            </a:br>
            <a:endParaRPr lang="ru-RU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5967661" y="3964319"/>
            <a:ext cx="515753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Помнит контекст беседы</a:t>
            </a:r>
          </a:p>
          <a:p>
            <a:endParaRPr lang="ru-RU" b="1" dirty="0"/>
          </a:p>
          <a:p>
            <a:r>
              <a:rPr lang="ru-RU" sz="1600" dirty="0"/>
              <a:t>После первого ответа не нужно вводить запрос заново. Задайте Тео уточняющие вопросы или выберите их из предложенных, чтобы продолжить анализ: «Покажи по отделам» или «Сравни с прошлым годом».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67661" y="1336119"/>
            <a:ext cx="515753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Разбирается в бизнес-</a:t>
            </a:r>
            <a:r>
              <a:rPr lang="ru-RU" b="1" dirty="0" err="1"/>
              <a:t>тревел</a:t>
            </a:r>
            <a:br>
              <a:rPr lang="ru-RU" b="1" dirty="0"/>
            </a:br>
            <a:br>
              <a:rPr lang="ru-RU" sz="1400" b="1" dirty="0"/>
            </a:br>
            <a:r>
              <a:rPr lang="ru-RU" sz="1600" dirty="0"/>
              <a:t>Тео знает, чем возврат отличается от отмены и почему расходы на гостиницы считают отдельно от перелетов. С его помощью вы сможете не только собрать нужные цифры, но и узнать, на какие показатели стоит обратить внимание. </a:t>
            </a:r>
            <a:endParaRPr lang="ru-RU" b="1" dirty="0"/>
          </a:p>
          <a:p>
            <a:r>
              <a:rPr lang="ru-RU" b="1" dirty="0"/>
              <a:t>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126" y="444513"/>
            <a:ext cx="601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+mj-lt"/>
              </a:rPr>
              <a:t>Больше, чем стандартный чат-бот</a:t>
            </a:r>
          </a:p>
        </p:txBody>
      </p:sp>
    </p:spTree>
    <p:extLst>
      <p:ext uri="{BB962C8B-B14F-4D97-AF65-F5344CB8AC3E}">
        <p14:creationId xmlns:p14="http://schemas.microsoft.com/office/powerpoint/2010/main" val="875695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9704" y="588691"/>
            <a:ext cx="10676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+mj-lt"/>
              </a:rPr>
              <a:t>С какими запросами работает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1735" y="1350676"/>
            <a:ext cx="380799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Динамика и структура затрат</a:t>
            </a:r>
          </a:p>
          <a:p>
            <a:r>
              <a:rPr lang="ru-RU" sz="1400" dirty="0"/>
              <a:t>Детализация расходов по периодам, сравнение по видам и количеству услуг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704" y="2441155"/>
            <a:ext cx="397944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Маршруты и направления</a:t>
            </a:r>
            <a:br>
              <a:rPr lang="ru-RU" dirty="0"/>
            </a:br>
            <a:r>
              <a:rPr lang="ru-RU" sz="1400" dirty="0"/>
              <a:t>Самые популярные города, доля билетов туда-обратно и рейсов с пересадками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704" y="3480139"/>
            <a:ext cx="426519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Соблюдение </a:t>
            </a:r>
            <a:r>
              <a:rPr lang="ru-RU" dirty="0" err="1"/>
              <a:t>тревел</a:t>
            </a:r>
            <a:r>
              <a:rPr lang="ru-RU" dirty="0"/>
              <a:t>-политики</a:t>
            </a:r>
          </a:p>
          <a:p>
            <a:r>
              <a:rPr lang="ru-RU" sz="1400" dirty="0"/>
              <a:t>Доля транзакций с нарушениями, разбивка по сотрудникам, категориям и суммам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704" y="4450697"/>
            <a:ext cx="380799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Поставщики и классы обслуживания</a:t>
            </a:r>
          </a:p>
          <a:p>
            <a:r>
              <a:rPr lang="ru-RU" sz="1400" dirty="0"/>
              <a:t>Топ авиакомпаний, средняя стоимость билета и ночи в гостинице, распределение тарифов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735" y="5489681"/>
            <a:ext cx="362551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Статусы бронирований</a:t>
            </a:r>
            <a:br>
              <a:rPr lang="ru-RU" dirty="0"/>
            </a:br>
            <a:r>
              <a:rPr lang="ru-RU" sz="1400" dirty="0"/>
              <a:t>Объем возвратов и обменов, средние чеки по штрафам и сборам за каждую операцию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6289" y="2058207"/>
            <a:ext cx="29018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Сравни</a:t>
            </a:r>
            <a:r>
              <a:rPr lang="en-US" sz="1600" dirty="0"/>
              <a:t> </a:t>
            </a:r>
            <a:r>
              <a:rPr lang="ru-RU" sz="1600" dirty="0"/>
              <a:t>авиа- и</a:t>
            </a:r>
            <a:r>
              <a:rPr lang="en-US" sz="1600" dirty="0"/>
              <a:t> ж/д</a:t>
            </a:r>
            <a:r>
              <a:rPr lang="ru-RU" sz="1600" dirty="0"/>
              <a:t>-перевозки по ключевым метрикам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0139" y="1979099"/>
            <a:ext cx="2901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Кто из сотрудников часто выходит за рамки </a:t>
            </a:r>
            <a:r>
              <a:rPr lang="ru-RU" sz="1600" dirty="0" err="1"/>
              <a:t>тревел</a:t>
            </a:r>
            <a:r>
              <a:rPr lang="ru-RU" sz="1600" dirty="0"/>
              <a:t>-политики?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9516" y="4535574"/>
            <a:ext cx="2252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Сколько потратили за прошлый квартал?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816211"/>
            <a:ext cx="3514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897"/>
          <a:stretch/>
        </p:blipFill>
        <p:spPr>
          <a:xfrm>
            <a:off x="7301678" y="3568145"/>
            <a:ext cx="2156647" cy="3121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1" y="5120349"/>
            <a:ext cx="21817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В каких отелях чаще всего останавливаются командированные?</a:t>
            </a:r>
          </a:p>
        </p:txBody>
      </p:sp>
    </p:spTree>
    <p:extLst>
      <p:ext uri="{BB962C8B-B14F-4D97-AF65-F5344CB8AC3E}">
        <p14:creationId xmlns:p14="http://schemas.microsoft.com/office/powerpoint/2010/main" val="866146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954500" y="741523"/>
            <a:ext cx="71016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latin typeface="+mj-lt"/>
              </a:rPr>
              <a:t>Простая аналитика вместо сложных расчетов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122" y="1734646"/>
            <a:ext cx="3257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Раньше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2125" y="1673924"/>
            <a:ext cx="3257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С Тео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0065" y="2456731"/>
            <a:ext cx="4437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Ручное сопоставление нескольких файлов, часы работы со сводными таблицами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694" y="3425037"/>
            <a:ext cx="4461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Перенастройка фильтров и </a:t>
            </a:r>
            <a:r>
              <a:rPr lang="ru-RU" dirty="0" err="1"/>
              <a:t>пересборка</a:t>
            </a:r>
            <a:r>
              <a:rPr lang="ru-RU" dirty="0"/>
              <a:t> отчета при каждом новом уточнении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694" y="4509022"/>
            <a:ext cx="4390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Самостоятельный поиск закономерностей и аномалий в огромном массиве данных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5837350" y="3460379"/>
            <a:ext cx="48211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Непрерывный диалог с постепенным погружением в нужные детали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7350" y="2431706"/>
            <a:ext cx="4437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Быстрое и наглядное сравнение нужных показателей в одном окне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7350" y="4509022"/>
            <a:ext cx="4437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Изучение предложенных А</a:t>
            </a:r>
            <a:r>
              <a:rPr lang="en-US" dirty="0"/>
              <a:t>I</a:t>
            </a:r>
            <a:r>
              <a:rPr lang="ru-RU" dirty="0"/>
              <a:t>-аналитиком паттернов и проверка уже готовых гипотез</a:t>
            </a:r>
          </a:p>
        </p:txBody>
      </p:sp>
    </p:spTree>
    <p:extLst>
      <p:ext uri="{BB962C8B-B14F-4D97-AF65-F5344CB8AC3E}">
        <p14:creationId xmlns:p14="http://schemas.microsoft.com/office/powerpoint/2010/main" val="4210475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7937" y="774031"/>
            <a:ext cx="9785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+mj-lt"/>
              </a:rPr>
              <a:t>Как начать работу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7936" y="1561964"/>
            <a:ext cx="847488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Возможности Тео распределены по ролям пользователя</a:t>
            </a:r>
          </a:p>
          <a:p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/>
              <a:t>Главный координатор +/Главный координатор</a:t>
            </a:r>
            <a:r>
              <a:rPr lang="ru-RU" sz="1600" dirty="0"/>
              <a:t> — запрашивает аналитику по доступному ему портфелю компаний и поездок.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/>
              <a:t>Координатор </a:t>
            </a:r>
            <a:r>
              <a:rPr lang="ru-RU" sz="1600" dirty="0"/>
              <a:t>— работает со статистикой по своим отделам или заказам, к которым у него есть доступ.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/>
              <a:t>Сотрудник</a:t>
            </a:r>
            <a:r>
              <a:rPr lang="ru-RU" sz="1600" dirty="0"/>
              <a:t> — получает аналитику по собственным поездкам.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05686" y="3654845"/>
            <a:ext cx="8339388" cy="2537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  <a:tabLst>
                <a:tab pos="450215" algn="l"/>
              </a:tabLst>
            </a:pPr>
            <a:r>
              <a:rPr lang="ru-RU" sz="1600" b="1" dirty="0">
                <a:ea typeface="AR PL SungtiL GB"/>
                <a:cs typeface="Noto Sans Devanagari"/>
              </a:rPr>
              <a:t>01 </a:t>
            </a:r>
            <a:r>
              <a:rPr lang="ru-RU" sz="1600" dirty="0">
                <a:ea typeface="AR PL SungtiL GB"/>
                <a:cs typeface="Noto Sans Devanagari"/>
              </a:rPr>
              <a:t>Зайдите в раздел «Отчеты» и нажмите на </a:t>
            </a:r>
            <a:r>
              <a:rPr lang="ru-RU" sz="1600" dirty="0" err="1">
                <a:ea typeface="AR PL SungtiL GB"/>
                <a:cs typeface="Noto Sans Devanagari"/>
              </a:rPr>
              <a:t>виджет</a:t>
            </a:r>
            <a:r>
              <a:rPr lang="ru-RU" sz="1600" dirty="0">
                <a:ea typeface="AR PL SungtiL GB"/>
                <a:cs typeface="Noto Sans Devanagari"/>
              </a:rPr>
              <a:t>, расположенный над боковым меню слева.</a:t>
            </a:r>
            <a:br>
              <a:rPr lang="ru-RU" sz="1600" dirty="0">
                <a:ea typeface="AR PL SungtiL GB"/>
                <a:cs typeface="Noto Sans Devanagari"/>
              </a:rPr>
            </a:br>
            <a:r>
              <a:rPr lang="ru-RU" sz="1600" b="1" dirty="0">
                <a:ea typeface="AR PL SungtiL GB"/>
                <a:cs typeface="Noto Sans Devanagari"/>
              </a:rPr>
              <a:t>02</a:t>
            </a:r>
            <a:r>
              <a:rPr lang="ru-RU" sz="1600" dirty="0">
                <a:ea typeface="AR PL SungtiL GB"/>
                <a:cs typeface="Noto Sans Devanagari"/>
              </a:rPr>
              <a:t> Откройте чат и задайте вопрос — Тео сообщит</a:t>
            </a:r>
            <a:r>
              <a:rPr lang="en-US" sz="1600" dirty="0">
                <a:ea typeface="AR PL SungtiL GB"/>
                <a:cs typeface="Noto Sans Devanagari"/>
              </a:rPr>
              <a:t>, </a:t>
            </a:r>
            <a:r>
              <a:rPr lang="ru-RU" sz="1600" dirty="0">
                <a:ea typeface="AR PL SungtiL GB"/>
                <a:cs typeface="Noto Sans Devanagari"/>
              </a:rPr>
              <a:t>что именно собирается проверить</a:t>
            </a:r>
            <a:r>
              <a:rPr lang="en-US" sz="1600" dirty="0">
                <a:ea typeface="AR PL SungtiL GB"/>
                <a:cs typeface="Noto Sans Devanagari"/>
              </a:rPr>
              <a:t>, и н</a:t>
            </a:r>
            <a:r>
              <a:rPr lang="ru-RU" sz="1600" dirty="0" err="1">
                <a:ea typeface="AR PL SungtiL GB"/>
                <a:cs typeface="Noto Sans Devanagari"/>
              </a:rPr>
              <a:t>ачнет</a:t>
            </a:r>
            <a:r>
              <a:rPr lang="ru-RU" sz="1600" dirty="0">
                <a:ea typeface="AR PL SungtiL GB"/>
                <a:cs typeface="Noto Sans Devanagari"/>
              </a:rPr>
              <a:t> анализ</a:t>
            </a:r>
            <a:r>
              <a:rPr lang="en-US" sz="1600" dirty="0">
                <a:ea typeface="AR PL SungtiL GB"/>
                <a:cs typeface="Noto Sans Devanagari"/>
              </a:rPr>
              <a:t>.</a:t>
            </a:r>
            <a:r>
              <a:rPr lang="ru-RU" sz="1600" dirty="0">
                <a:ea typeface="AR PL SungtiL GB"/>
                <a:cs typeface="Noto Sans Devanagari"/>
              </a:rPr>
              <a:t> </a:t>
            </a:r>
            <a:br>
              <a:rPr lang="ru-RU" sz="1600" dirty="0">
                <a:ea typeface="AR PL SungtiL GB"/>
                <a:cs typeface="Noto Sans Devanagari"/>
              </a:rPr>
            </a:br>
            <a:r>
              <a:rPr lang="ru-RU" sz="1600" b="1" dirty="0">
                <a:ea typeface="AR PL SungtiL GB"/>
                <a:cs typeface="Noto Sans Devanagari"/>
              </a:rPr>
              <a:t>03</a:t>
            </a:r>
            <a:r>
              <a:rPr lang="ru-RU" sz="1600" dirty="0">
                <a:ea typeface="AR PL SungtiL GB"/>
                <a:cs typeface="Noto Sans Devanagari"/>
              </a:rPr>
              <a:t> </a:t>
            </a:r>
            <a:r>
              <a:rPr lang="ru-RU" sz="1600" dirty="0"/>
              <a:t>Изучите ответ и при необходимости отфильтруйте данные в таблице под свою задачу.</a:t>
            </a:r>
          </a:p>
          <a:p>
            <a:pPr>
              <a:lnSpc>
                <a:spcPct val="115000"/>
              </a:lnSpc>
              <a:spcAft>
                <a:spcPts val="700"/>
              </a:spcAft>
              <a:tabLst>
                <a:tab pos="450215" algn="l"/>
              </a:tabLst>
            </a:pPr>
            <a:r>
              <a:rPr lang="ru-RU" sz="1600" b="1" dirty="0">
                <a:ea typeface="AR PL SungtiL GB"/>
                <a:cs typeface="Noto Sans Devanagari"/>
              </a:rPr>
              <a:t>04</a:t>
            </a:r>
            <a:r>
              <a:rPr lang="ru-RU" sz="1600" dirty="0">
                <a:ea typeface="AR PL SungtiL GB"/>
                <a:cs typeface="Noto Sans Devanagari"/>
              </a:rPr>
              <a:t> Задайте </a:t>
            </a:r>
            <a:r>
              <a:rPr lang="en-US" sz="1600" dirty="0" err="1">
                <a:ea typeface="AR PL SungtiL GB"/>
                <a:cs typeface="Noto Sans Devanagari"/>
              </a:rPr>
              <a:t>уточняющи</a:t>
            </a:r>
            <a:r>
              <a:rPr lang="ru-RU" sz="1600" dirty="0">
                <a:ea typeface="AR PL SungtiL GB"/>
                <a:cs typeface="Noto Sans Devanagari"/>
              </a:rPr>
              <a:t>й</a:t>
            </a:r>
            <a:r>
              <a:rPr lang="en-US" sz="1600" dirty="0">
                <a:ea typeface="AR PL SungtiL GB"/>
                <a:cs typeface="Noto Sans Devanagari"/>
              </a:rPr>
              <a:t> </a:t>
            </a:r>
            <a:r>
              <a:rPr lang="en-US" sz="1600" dirty="0" err="1">
                <a:ea typeface="AR PL SungtiL GB"/>
                <a:cs typeface="Noto Sans Devanagari"/>
              </a:rPr>
              <a:t>вопрос</a:t>
            </a:r>
            <a:r>
              <a:rPr lang="en-US" sz="1600" dirty="0">
                <a:ea typeface="AR PL SungtiL GB"/>
                <a:cs typeface="Noto Sans Devanagari"/>
              </a:rPr>
              <a:t> </a:t>
            </a:r>
            <a:r>
              <a:rPr lang="en-US" sz="1600" dirty="0" err="1">
                <a:ea typeface="AR PL SungtiL GB"/>
                <a:cs typeface="Noto Sans Devanagari"/>
              </a:rPr>
              <a:t>или</a:t>
            </a:r>
            <a:r>
              <a:rPr lang="en-US" sz="1600" dirty="0">
                <a:ea typeface="AR PL SungtiL GB"/>
                <a:cs typeface="Noto Sans Devanagari"/>
              </a:rPr>
              <a:t> </a:t>
            </a:r>
            <a:r>
              <a:rPr lang="en-US" sz="1600" dirty="0" err="1">
                <a:ea typeface="AR PL SungtiL GB"/>
                <a:cs typeface="Noto Sans Devanagari"/>
              </a:rPr>
              <a:t>выб</a:t>
            </a:r>
            <a:r>
              <a:rPr lang="ru-RU" sz="1600" dirty="0" err="1">
                <a:ea typeface="AR PL SungtiL GB"/>
                <a:cs typeface="Noto Sans Devanagari"/>
              </a:rPr>
              <a:t>ерите</a:t>
            </a:r>
            <a:r>
              <a:rPr lang="ru-RU" sz="1600" dirty="0">
                <a:ea typeface="AR PL SungtiL GB"/>
                <a:cs typeface="Noto Sans Devanagari"/>
              </a:rPr>
              <a:t> </a:t>
            </a:r>
            <a:r>
              <a:rPr lang="en-US" sz="1600" dirty="0" err="1">
                <a:ea typeface="AR PL SungtiL GB"/>
                <a:cs typeface="Noto Sans Devanagari"/>
              </a:rPr>
              <a:t>одну</a:t>
            </a:r>
            <a:r>
              <a:rPr lang="en-US" sz="1600" dirty="0">
                <a:ea typeface="AR PL SungtiL GB"/>
                <a:cs typeface="Noto Sans Devanagari"/>
              </a:rPr>
              <a:t> </a:t>
            </a:r>
            <a:r>
              <a:rPr lang="en-US" sz="1600" dirty="0" err="1">
                <a:ea typeface="AR PL SungtiL GB"/>
                <a:cs typeface="Noto Sans Devanagari"/>
              </a:rPr>
              <a:t>из</a:t>
            </a:r>
            <a:r>
              <a:rPr lang="en-US" sz="1600" dirty="0">
                <a:ea typeface="AR PL SungtiL GB"/>
                <a:cs typeface="Noto Sans Devanagari"/>
              </a:rPr>
              <a:t> </a:t>
            </a:r>
            <a:r>
              <a:rPr lang="en-US" sz="1600" dirty="0" err="1">
                <a:ea typeface="AR PL SungtiL GB"/>
                <a:cs typeface="Noto Sans Devanagari"/>
              </a:rPr>
              <a:t>предложенных</a:t>
            </a:r>
            <a:r>
              <a:rPr lang="en-US" sz="1600" dirty="0">
                <a:ea typeface="AR PL SungtiL GB"/>
                <a:cs typeface="Noto Sans Devanagari"/>
              </a:rPr>
              <a:t> </a:t>
            </a:r>
            <a:r>
              <a:rPr lang="en-US" sz="1600" dirty="0" err="1">
                <a:ea typeface="AR PL SungtiL GB"/>
                <a:cs typeface="Noto Sans Devanagari"/>
              </a:rPr>
              <a:t>подсказок</a:t>
            </a:r>
            <a:r>
              <a:rPr lang="ru-RU" sz="1600" dirty="0">
                <a:ea typeface="AR PL SungtiL GB"/>
                <a:cs typeface="Noto Sans Devanagari"/>
              </a:rPr>
              <a:t>, чтобы продолжить исследование. </a:t>
            </a:r>
          </a:p>
          <a:p>
            <a:pPr>
              <a:lnSpc>
                <a:spcPct val="115000"/>
              </a:lnSpc>
              <a:spcAft>
                <a:spcPts val="700"/>
              </a:spcAft>
              <a:tabLst>
                <a:tab pos="450215" algn="l"/>
              </a:tabLst>
            </a:pPr>
            <a:r>
              <a:rPr lang="ru-RU" sz="1600" b="1" dirty="0">
                <a:ea typeface="AR PL SungtiL GB"/>
                <a:cs typeface="Noto Sans Devanagari"/>
              </a:rPr>
              <a:t>05</a:t>
            </a:r>
            <a:r>
              <a:rPr lang="ru-RU" sz="1600" dirty="0">
                <a:ea typeface="AR PL SungtiL GB"/>
                <a:cs typeface="Noto Sans Devanagari"/>
              </a:rPr>
              <a:t> </a:t>
            </a:r>
            <a:r>
              <a:rPr lang="ru-RU" sz="1600" dirty="0"/>
              <a:t>Выгрузите готовые результаты в </a:t>
            </a:r>
            <a:r>
              <a:rPr lang="ru-RU" sz="1600" dirty="0" err="1"/>
              <a:t>Excel</a:t>
            </a:r>
            <a:r>
              <a:rPr lang="ru-RU" sz="1600" dirty="0"/>
              <a:t> в один клик.</a:t>
            </a:r>
            <a:endParaRPr lang="ru-RU" sz="1600" dirty="0">
              <a:ea typeface="AR PL SungtiL GB"/>
              <a:cs typeface="Noto Sans Devanagari"/>
            </a:endParaRPr>
          </a:p>
        </p:txBody>
      </p:sp>
    </p:spTree>
    <p:extLst>
      <p:ext uri="{BB962C8B-B14F-4D97-AF65-F5344CB8AC3E}">
        <p14:creationId xmlns:p14="http://schemas.microsoft.com/office/powerpoint/2010/main" val="164325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584985" y="1606689"/>
            <a:ext cx="69302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Аналитика по вашим поездкам уже готова к работе — без сложных настроек и долгих ожиданий. </a:t>
            </a:r>
          </a:p>
          <a:p>
            <a:endParaRPr lang="ru-RU" dirty="0"/>
          </a:p>
          <a:p>
            <a:r>
              <a:rPr lang="ru-RU" dirty="0"/>
              <a:t>Хотите увидеть, как это работает на практике? Свяжитесь с менеджером — покажем в режиме реального времени и на конкретном примере.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84985" y="644009"/>
            <a:ext cx="73725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latin typeface="+mj-lt"/>
              </a:rPr>
              <a:t>Задайте свой первый вопрос Тео прямо сейчас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325" y="3981450"/>
            <a:ext cx="1253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+ 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15884914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610</Words>
  <Application>Microsoft Office PowerPoint</Application>
  <PresentationFormat>Широкоэкранный</PresentationFormat>
  <Paragraphs>52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Liberation Serif</vt:lpstr>
      <vt:lpstr>Тема Office</vt:lpstr>
      <vt:lpstr>Сократите время на подготовку отчетов по командировкам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Перцева Алёна</dc:creator>
  <cp:lastModifiedBy>Ефремова Екатерина</cp:lastModifiedBy>
  <cp:revision>74</cp:revision>
  <dcterms:created xsi:type="dcterms:W3CDTF">2026-07-21T07:32:02Z</dcterms:created>
  <dcterms:modified xsi:type="dcterms:W3CDTF">2026-07-29T11:34:29Z</dcterms:modified>
</cp:coreProperties>
</file>