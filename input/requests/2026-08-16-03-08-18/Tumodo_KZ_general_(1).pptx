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4"/>
  </p:notesMasterIdLst>
  <p:handoutMasterIdLst>
    <p:handoutMasterId r:id="rId25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03E1EE-555C-4FB2-AB7A-32D14026010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>
              <a:ln>
                <a:noFill/>
              </a:ln>
              <a:latin typeface="Arial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81E12-2490-4882-B312-AF55813B06C5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>
              <a:ln>
                <a:noFill/>
              </a:ln>
              <a:latin typeface="Arial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20208-B58F-4817-B1B6-7465B2440FF7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>
              <a:ln>
                <a:noFill/>
              </a:ln>
              <a:latin typeface="Arial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61A37-775C-4DD2-9CB7-2A1F6C485C37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DBE3784F-9A66-4CAD-90D8-1D6F5FFBF8D3}" type="slidenum">
              <a:t>‹#›</a:t>
            </a:fld>
            <a:endParaRPr lang="ru-RU" sz="1400" b="0" i="0" u="none" strike="noStrike" kern="1200">
              <a:ln>
                <a:noFill/>
              </a:ln>
              <a:latin typeface="Arial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65643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1DB17-5A63-4797-8726-898F797ED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33160-A79D-4D5C-BF73-B1193161FEE6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6E8D6F1-8E94-4C69-8CED-41D2E81C692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BD3CD-A73B-47B0-B123-E84640301BEA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1E127-CA4D-4713-87E6-7F6D83342BB5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2773A-324E-4198-A6F1-BA2F602D83A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5E7265A5-417E-4684-AC3B-11D6BDB2313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443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ru-RU" sz="2000" b="0" i="0" u="none" strike="noStrike" kern="1200">
        <a:ln>
          <a:noFill/>
        </a:ln>
        <a:latin typeface="Arial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2A2FB-BE32-4C94-AFF1-85FD50225F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F9E352E-CE96-40C0-89E4-16DF260BAB63}" type="slidenum">
              <a:t>1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994D1-0591-4207-9963-63DF5033FE0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8607E-41FA-43FE-A588-5EFA3E682C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8B2E1-6310-4CE2-A633-40BACD1044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9A75134-3750-434E-BC13-03EA5050FD2E}" type="slidenum">
              <a:t>2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BBA08-D6F9-488B-8DB5-A3B71002D46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40983-0030-46D5-BCF4-91069F7FA5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8C21D-46E2-4754-B28B-1646F73FEC5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1DC1D61-CE55-4FC2-8791-D4735ED72997}" type="slidenum">
              <a:t>3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85F5C-C2FB-4BD3-B36B-3533FE7C776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83A31-817F-42E6-9C27-FB29A66FAB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0BA03-2EB2-4693-BB37-8198BAC248B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38571664-4FAA-43D0-B884-7097A52B343D}" type="slidenum">
              <a:t>4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8C40A-B590-4376-9432-2BC0594EBC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17F43-FE62-4034-BA26-20BC6F40FEB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C7A52-8C9E-4B19-90F3-177E88AB661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E20181C-87FB-4EE8-BBCF-7AE95C871206}" type="slidenum">
              <a:t>5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7F3DE-41EF-4E2A-8035-825CDC30E23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7C229-6B7F-4836-8CFE-7E095D5183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8A64E-292D-4C56-936A-4040150B2E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8DFE5FF-8B78-4734-8E55-E7BEC79F1AF4}" type="slidenum">
              <a:t>6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6AF38-5087-45E3-9096-C8A2A7C2F38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2EC45-E8E6-4239-B3F5-5E22A9143E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E852F-64BA-4622-9C82-BE432278CB5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1277B22-2737-49AF-9916-8E82FFD66E92}" type="slidenum">
              <a:t>7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086D2-754E-4951-9EE2-B0FA5FF44C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A16FE-29DA-4B47-9CFA-52B848E239E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947F0-210B-4761-8C84-91E307447A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5AB826E-E74A-4A13-A6B8-CE004AC3110C}" type="slidenum">
              <a:t>8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54C2C-C6D5-4AA1-9E13-38F7F658767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A3614-42DB-427D-9009-D10D67ECAC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9522B-2AFF-4632-AC94-869312521A9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D16788D-F600-44C0-B595-4D6222A61638}" type="slidenum">
              <a:t>9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FF9A4-7D2D-4DE8-91D9-D7896609966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D72A-53FC-4D31-AE18-E169CB9C9A3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F893D-4A7B-46AB-ABC9-EE754B9DEC1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E883E46-F226-45EF-B46D-411090615525}" type="slidenum">
              <a:t>10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228D4-F686-441A-A1FA-2EA621AB4F0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9E893-5477-4CA8-8497-2CEBE01A2FC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722BD-738E-498A-B1F1-C6A88A4BEF3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7FE6FDF-1CB9-47C4-91EB-829BAB8CD7F4}" type="slidenum">
              <a:t>11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C731A-3C85-4AA4-A08D-53F1DF0FC23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B5273-BE1A-427F-8E09-C2341B082F7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9D4F5-6D96-48A8-833E-6F4C2084E65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113FDF3-88E5-49E6-ABCD-64A19D24AE50}" type="slidenum">
              <a:t>12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FB79F-60B1-4E30-937E-4ADBC056DF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EA185-51A9-4E22-88BB-7048071F7F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E220B-506F-4E94-A4EB-BDF1A89EAE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06D8C1D-595E-47E8-9B24-187E660D67FD}" type="slidenum">
              <a:t>13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C6555-ABE5-4535-A235-C120D53DD01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C55D8B-8994-4C6B-A0D1-26A04280BA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89064-8F4B-4601-875A-F766FBF1FC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9272D46-778B-4717-80BD-B6585789A0EB}" type="slidenum">
              <a:t>14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E855A-DCD8-467B-8DA1-398BF2E1C35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F793F-106E-42DB-9931-FC90C32217A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A7248-D03C-4A4E-BC60-27B2E1AC31F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AF115FA-57E6-4F83-BC94-A23E5A40071D}" type="slidenum">
              <a:t>15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D1BDA-7509-46DE-8EFE-9B95593A200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82D0A-A1B5-4532-ABBD-8873B00CF9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9254F-73BF-420D-9AB8-3C0BB105AD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CB46AED-18F8-4C82-94A2-8A7C75EF0E2B}" type="slidenum">
              <a:t>16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C6147-EE1A-48D0-A83F-437E67EA4B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97B4C-5C06-4EBD-9C77-C2F8C805D79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C26C4-3BAE-43E4-A2D0-D136718BA2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28FABE5-CCF6-4172-863A-D38F573113FF}" type="slidenum">
              <a:t>17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392A0-2602-41B8-88FA-1B526062DA3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A1312-6D45-4E7E-9E3A-9DE9E518DB1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C3CC1-9DCC-420B-ACA5-D2ED2BD728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7A3DCFF-DEFB-4C02-9384-2BADF5DD08F5}" type="slidenum">
              <a:t>18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C3D54-E0D4-47C5-84B7-6EAFEDD7BA3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42744-A880-4B64-B2E8-7B7466FCAE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B58AE-3EE8-4517-A820-13FBDC5613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DAEBD84-F6AD-4CFC-A695-9908DCD0FF22}" type="slidenum">
              <a:t>19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2050D-B112-463F-AA02-E263B22B1A0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F2072-F329-46F5-989E-23C2B15469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2E316-66CC-4E66-8834-3CC107EC0B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678D520-8793-4D53-906C-36A701FCB26F}" type="slidenum">
              <a:t>20</a:t>
            </a:fld>
            <a:endParaRPr lang="ru-RU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0161D-93F4-4D8A-B7EF-CDDD6C4C795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6000" y="812520"/>
            <a:ext cx="7127279" cy="4008959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ADFE6-4793-4D62-9E9A-892BDCA9F4A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D872-B262-45F7-A5C0-A0C6A6E166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581CA-978F-43A7-B7B3-B5B44A189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0438C-B1EA-47E6-B63E-DF0F8D86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468DF-FBD0-482F-BA11-BBC9B4540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ECFF0-7238-4613-A14E-C7836538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63C0002-C54F-4767-B930-6D579C78EAB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983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19C7-D49E-443A-B0FD-D28EEAE9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9EC83-E008-4FC0-B72B-6BB490F87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21457-70BF-4B96-99E7-1CCA3117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775B3-EDB2-4CB9-9126-BD162539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C0C82-0734-4001-A250-13120B5E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3166BCD-39C7-4D5C-A00F-40C7B73FAF1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86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84F3C-7DB1-410B-AC6C-E2E150CB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1A584-2038-4D41-8CE3-A1DE518E4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C1A3-4B68-40BB-A4A4-A64B4C21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45BCB-1CBE-4150-B1D9-519A717D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31F52-D224-4050-8B97-6E17446E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77327C-7FEC-48D3-ACF4-BED1767B5BE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792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7656-F683-4AAA-883F-6CD523AB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B5C84-5B5F-400F-BC16-961F86036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4963"/>
            <a:ext cx="54102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37631-AF12-4A86-B1EE-198383090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4963"/>
            <a:ext cx="54102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D08CD-5EC0-42C1-9066-F0560DA50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0D078-328A-435E-9A28-08A9088A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FF523-42D2-4058-86DF-22AC34C0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1747357-A152-4AD9-AC87-B0124320323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2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4ECE-9EB2-4FB6-94AC-EA4D49A83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CA27-080E-4D6D-9E8B-B17E758BD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3D56E-8A37-4B9D-8983-2A7EB5AE1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A97FB-79C1-4279-9C21-E8EBB20B3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1E7B0-6F22-4FC8-BEC6-D489EDD6C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4F221-C410-4926-8CBB-8B57F1A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2FDC8B-D3F1-4415-B4F0-74300326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746CC-2ACE-4B2D-8D54-8062A8CB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527168-48E8-4B94-B29F-3731EBA3C27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9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D87E-5CD5-4C53-B0D6-260C33E5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311E4-2F60-47B4-940A-507CAE8BD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833D1-41CC-40D0-A6C8-9F870A99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82581-6133-47FB-8739-34D66A07F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F33D761-BD95-4A34-9063-3974538CAD1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33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E9880-9877-4363-9249-60AE84E88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B179F7-0515-421F-B9B4-1D7C5594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BCEC2-831E-442B-AC26-1143302D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699BE1-B416-4551-9C56-EE5F169D2DC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6789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3C66C-24A3-4BCA-8E4F-1E9AC7A0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A918-BDF9-44A1-BC20-9F6736157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7C74F-F408-4894-B95D-78508ADAF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51C5A-ACB3-4E8D-9531-C2FD43DC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364BE-958E-4546-8C79-9D4181B1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DE950-ABF2-4BEE-AD01-0196D059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397112-1398-41C8-B7F2-1132BE80B49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25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E370-3EDC-4996-A800-DD496463F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36D9-3338-4E50-8338-AC7342B52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78831-1511-4F88-9D2C-5ADFFA3C8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1C235-0F83-4471-ACD9-E79A5588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5AEB8-4541-42CC-B194-7367AAC7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5E082-9CAC-4E88-9D79-3E1C5C1F1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0DC5D5-6C8D-476A-8D1F-E19EBE9A08D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906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D5A0-E8A4-49F7-B0C8-4344AECF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4559D-A617-4ECC-8686-0CD32C911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75043-FE91-41BA-9BA4-F58D928AC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50801-D971-40EE-B0D8-998DBD0F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E7983-3E72-41D5-B376-44FD3803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5CA2A6-2701-4328-AC6A-842A91DE899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96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57054-4E52-4208-8A7E-080813AD9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1122363"/>
            <a:ext cx="2743200" cy="5008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0D0D8-1931-4A11-A87F-F4C05F9F4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1122363"/>
            <a:ext cx="8077200" cy="5008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D881-3194-4A84-8827-84B256618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C515E8C-AE17-405D-A23F-0A5019A90E3F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5A079-3ABC-4F6C-979A-173CD647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48E58-A47B-4EAB-A46B-8C075E81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A09866-79F8-4406-97B4-FB45D4C3852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637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A2E57-6E44-4E0E-B7D2-585964A18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49554-C878-4460-AE26-E12920361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BE45-081F-4DC4-90A9-A670456BE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44796-F7E6-4751-A1CE-31B54617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FEB5A-5D59-4EA2-A7A2-864ED731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33D62DA-3E54-4C10-BE05-98149092FF3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709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99C2-8B54-493E-AE3C-680D554A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E0614-7468-4531-A90A-4B1A7D78E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BE0FA-4824-4552-929C-B3707C76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C135D-ACC2-4CB1-AB16-6E28FDD5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50934-4B48-400C-8A37-6D750B5E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638FA7-10EA-486C-936A-5E69220C05D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317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C2696-DBDB-4F35-9F3E-0959C419A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F496-64DF-4BB8-8256-AC7A6DFD2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826BB-1F9C-432D-A841-82FA1C0A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278A4-665B-46E9-908D-7687BA42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4E884-1381-4CF1-9056-D409DB70A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37FEDF-F65D-4582-86CA-5C714D7217C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274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FABDE-1DDD-47D5-9B22-825923A1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DB62-BDC7-4E27-AD5E-FB27351B2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C6979-0106-4ED9-AC54-D556805A6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A82D9-861A-4B60-B620-B735826D2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396C1-D02B-45BA-ADD1-542740482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AA5AD-16E3-4145-A64B-64F845C5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327879E-7994-4F01-8786-ABFB499E8CB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407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0C01F-4545-4E57-A61C-C9772014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F2C81-C905-4734-9374-82E19FF5F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50439-CAD2-49BE-BE40-8622556DD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2166A-3F98-4255-A84A-14E000699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4B454-7E76-4EED-884F-365B1E04A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37F37-FFC3-4BF8-8D53-0BF2083D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113DF-71D4-4285-BC7F-E626174BB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4AF3E5-D99D-469B-8D0D-1968E89D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F709FE7-F6E0-45D9-ADB4-24DC19BAF6F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782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3B80-87F0-49F2-8C07-13BB85E0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4F663-3F49-4AE9-85F1-CFEFC2A33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F2BB1-1501-4EAB-B0D7-D55B3C32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AD549-21CF-4E43-905A-5CA8F290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CE797A-069C-4E7F-8D23-387BED71072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333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D350F-6659-4FE4-BCCD-5FA2F65EB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843E6-9B31-4C16-AD0C-58B3DBFE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87A08-A964-4EDA-AE1B-EAA74C04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422B48-A1C1-48EE-9215-F600EE76869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82295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5BD6-2730-456F-9A48-4F0949E53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C76BC-04E9-4731-87AB-59FAA7BCB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13178-D647-42CB-9CA6-F12E9C9EC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8335E-6381-4202-A530-CDC5607F0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3CD84-4B01-4FE7-B6DD-4FA0CA1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DBD50-8ECB-4D16-9BA8-126C9CEF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546BE54-E3A2-424C-9B7A-1E857A02B4C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143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C5A1-F300-4548-A699-B30201A5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09788-1B05-4B05-A1DC-251DDF81E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BDCE2-2E3C-450B-864C-121AA342D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ECB3D-72B7-4ACA-BB64-01DDACC5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716BB-3E5F-40B4-B937-3A5636BA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D96BF-0B11-4422-998E-D56E3F1A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34549F5-CCBB-4A2B-B867-BB12A370DE6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542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22B5-B3E6-4E5B-9729-1A966D9A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6848B-A492-47CC-997B-631592AD3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B5413-6136-4D98-8151-4EA654A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C5605-E8E4-436B-9B6A-9BA1857A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470E2-0B1D-4836-B4C1-90D3FC08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BC1DF86-DEB4-47EA-AB2B-9EF0078A714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6921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11A7A3-5442-47D8-A5BD-1F10C6B6B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78DDC-09CF-455A-8955-2BC2997DC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71316-D711-47B9-A001-C016D516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63D179D-BD02-479B-9C13-BFE3C3E83CD7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EFA0F-E6E3-4880-B1CD-F69C75307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FC11-D838-40B8-993B-0F8B1DF5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44FAFC-4DD2-4792-A468-C0B8528FA2C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7154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7C5A-80F8-488F-8B13-E687B99F9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F2BC-6F97-4A4A-9102-BED77FC3E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7EEA1-9A3D-4034-9A61-8F3A0E29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F2C2-2FFE-45AD-8B1D-39E2962F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BDE40-0A2C-45B7-98C5-84AEACBC4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33ED31-790D-4F1A-932C-6AC28398019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6212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AAEF-10F8-46DF-B2E2-CA5DBB82D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63B88-2DF4-4D5E-8CC0-FD7A45B44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3F43B-6714-4986-B5AA-E0539A45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5C006-6119-44FB-992D-6BCC230F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DA8C6-3AC1-4F34-82B6-4342D19C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40368A-5E92-4C98-BD19-60F3421EB89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6208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AFB3-F4A2-47F4-B7B3-606A6CCB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3F7D0-0202-4EB3-B1C5-231C321C4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2B2D5-6C83-4FB3-804C-058EF6CE3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7ABA-8BFC-48F7-9BDA-A7B0CF32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1CCB1-3A78-45D5-AC08-D0375C1B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22C36B-401F-4B17-B853-7EE4FDF0B2A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6381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51F8-7101-468B-8879-44ED6C655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1B1CE-E69D-4C6D-A3E0-02C7B7B81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1850" y="4589463"/>
            <a:ext cx="5181600" cy="150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51F83-150B-404E-A7CB-D9F3217B1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5850" y="4589463"/>
            <a:ext cx="5181600" cy="150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31ADE-CBCF-4B01-B8BB-445511BF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F9F1E-B3F5-4383-A17E-03AA0C54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0B0A2-2FE4-4706-95BA-59DED912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580252-6498-41CB-84DF-72021131689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6142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62B4C-B75C-48CA-A0B0-FCF75E813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1227B-16F0-45E2-9412-B59137A18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82FD0-33A1-4310-A6E7-1C4649AFA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07A95-878E-4F82-968E-6D6299BB8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1FC32-C2E5-4F58-9D9B-40D8E0498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1D269-89CB-4169-A624-92F9A865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04AD26-F9CA-4C9A-A4CB-C698B47C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D6B43-3816-449B-8018-56B8CAFD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82D7C2-7282-4692-8E55-4C4F18CD320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4161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BD78-0384-4FC6-B6AD-60A2DE34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0962F-F8ED-4453-9FE5-B50C7C57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2ADDE-4546-4088-B8B6-3C9E1982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4EA57-E593-49A1-8262-936C98F1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984DFF8-40BB-4785-A05F-DFAEF2C2775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0492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59B000-2DE0-41A3-A1AC-7E4E5BAB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3ADD3-CC33-49E9-A4BB-40DA8317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DF641-F9AF-4BC7-A640-4393FC0C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6D6300-70F5-45F1-B08A-C8EB4E60391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587937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7B6C-1994-4407-91B5-CCCCBBB9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A1BE3-6A8D-42C6-AC8C-5B3FB9EA0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C0E54-4CDA-40C6-B727-3245E2267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49A29-4930-4382-B9F7-31CD0473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EC750-E524-4B08-AE02-9C5CEC31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AA459-D769-4E7B-BA5A-DE1DA571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E71CAB6-369F-403C-A8AB-57ED3FC7CEC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6814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7AC5D-5803-46EB-8FA5-50CAA1BA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C3FBD-79AD-403F-A192-76FB57D42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80838-6526-41C2-9B76-286C27DFC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1BC4A-B451-47E6-A8B3-0CABF661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27A39-9D4B-4710-BCD0-C531AF269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7F4AE-A65A-4313-A04D-A0AD904F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72655B-EB9F-420B-B567-0C38ED5DC50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4029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90B75-3DE3-420C-B449-11EC90B93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22E59-088A-4100-AE04-97EE6EF92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5DCFE-8AEA-4D1D-A068-5EB0333E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5DDB5-6473-4542-88AC-7C1A9CB68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8F8B5-26E3-4F0D-9709-06F1D9184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3CE464-23D7-4FD4-94DB-2EB4239EA99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7356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046EB-48D6-45EB-A98A-10C036005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18550" y="1709738"/>
            <a:ext cx="2628900" cy="4379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57132-3501-447D-B159-BEAF23D3E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1850" y="1709738"/>
            <a:ext cx="7734300" cy="4379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193AE-B034-4F26-B127-43A18985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E65752A-BDF9-4083-ADC8-A64B9D5E8952}" type="datetime1">
              <a:rPr lang="ru-RU" smtClean="0"/>
              <a:pPr lvl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BBB28-7D83-408F-B965-7FA46265C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25280-B206-4366-80D3-70158EFF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001159-FDEF-4019-9852-760BF4A7426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92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9637E-C0AD-4307-9AA8-4FC86BFAAA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>
            <a:noAutofit/>
          </a:bodyPr>
          <a:lstStyle/>
          <a:p>
            <a:pPr lvl="0"/>
            <a:r>
              <a:rPr lang="ru-RU"/>
              <a:t>Для правки текста заголовка щелкните мышьюОбразец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79E39D53-31EA-4D0A-AD99-9679FCE265B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080" y="635652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ru-RU" sz="1800" b="0" i="0" u="none" strike="noStrike" kern="1200" spc="0">
                <a:solidFill>
                  <a:srgbClr val="000000"/>
                </a:solidFill>
                <a:latin typeface="Calibri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2C515E8C-AE17-405D-A23F-0A5019A90E3F}" type="datetime1">
              <a:rPr lang="ru-RU"/>
              <a:pPr lvl="0"/>
              <a:t>2026/5/28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041FE459-BCEB-4FB0-883D-3E7483596E8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479" y="6356520"/>
            <a:ext cx="4114440" cy="3646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lvl="0" rtl="0" hangingPunct="0">
              <a:buNone/>
              <a:tabLst/>
              <a:defRPr lang="ru-RU" sz="2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2D077DE9-4DFA-40A5-8CC5-2B4E016E6B8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480" y="635652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ru-RU" sz="1800" b="0" i="0" u="none" strike="noStrike" kern="1200" spc="0">
                <a:solidFill>
                  <a:srgbClr val="000000"/>
                </a:solidFill>
                <a:latin typeface="Calibri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B4D946CF-4CFA-49A7-8E1B-B74D9903360B}" type="slidenum">
              <a:t>‹#›</a:t>
            </a:fld>
            <a:endParaRPr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1B0D97-DF92-4D9C-ACD0-326B8023A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4525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6000" b="0" i="0" u="none" strike="noStrike" kern="1200" spc="0">
          <a:ln>
            <a:noFill/>
          </a:ln>
          <a:solidFill>
            <a:srgbClr val="000000"/>
          </a:solidFill>
          <a:latin typeface="Calibri Light" pitchFamily="18"/>
          <a:ea typeface="Microsoft YaHei" pitchFamily="2"/>
          <a:cs typeface="Arial" pitchFamily="2"/>
        </a:defRPr>
      </a:lvl1pPr>
    </p:titleStyle>
    <p:bodyStyle>
      <a:lvl1pPr algn="l" rtl="0" hangingPunct="1">
        <a:lnSpc>
          <a:spcPct val="90000"/>
        </a:lnSpc>
        <a:spcBef>
          <a:spcPts val="0"/>
        </a:spcBef>
        <a:spcAft>
          <a:spcPts val="1417"/>
        </a:spcAft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3ED89-BDDD-4A9B-9370-63B1AF86A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t">
            <a:noAutofit/>
          </a:bodyPr>
          <a:lstStyle/>
          <a:p>
            <a:pPr lvl="0"/>
            <a:r>
              <a:rPr lang="ru-RU"/>
              <a:t>Для правки текста заголовка щелкните мышьюОбразец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B64B47-6DBE-482D-BFA5-C1088A688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t">
            <a:noAutofit/>
          </a:bodyPr>
          <a:lstStyle/>
          <a:p>
            <a:pPr lvl="0"/>
            <a:r>
              <a:rPr lang="ru-RU"/>
              <a:t>Для правки структуры щелкните мышью</a:t>
            </a:r>
          </a:p>
          <a:p>
            <a:pPr lvl="1"/>
            <a:r>
              <a:rPr lang="ru-RU"/>
              <a:t>Второй уровень структуры</a:t>
            </a:r>
          </a:p>
          <a:p>
            <a:pPr lvl="2"/>
            <a:r>
              <a:rPr lang="ru-RU"/>
              <a:t>Третий уровень структуры</a:t>
            </a:r>
          </a:p>
          <a:p>
            <a:pPr lvl="3"/>
            <a:r>
              <a:rPr lang="ru-RU"/>
              <a:t>Четвёртый уровень структуры</a:t>
            </a:r>
          </a:p>
          <a:p>
            <a:pPr lvl="4"/>
            <a:r>
              <a:rPr lang="ru-RU"/>
              <a:t>Пятый уровень структуры</a:t>
            </a:r>
          </a:p>
          <a:p>
            <a:pPr lvl="5"/>
            <a:r>
              <a:rPr lang="ru-RU"/>
              <a:t>Шестой уровень структуры</a:t>
            </a:r>
          </a:p>
          <a:p>
            <a:pPr lvl="6"/>
            <a:r>
              <a:rPr lang="ru-RU"/>
              <a:t>Седьмой уровень структуры</a:t>
            </a:r>
          </a:p>
          <a:p>
            <a:pPr lvl="7"/>
            <a:r>
              <a:rPr lang="ru-RU"/>
              <a:t>Восьмой уровень структуры</a:t>
            </a:r>
          </a:p>
          <a:p>
            <a:pPr lvl="0"/>
            <a:r>
              <a:rPr lang="ru-RU"/>
              <a:t>Девятый уровень структурыОбразец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E98776-AF01-4BD4-A592-A323608DB39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080" y="635652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ru-RU" sz="1800" b="0" i="0" u="none" strike="noStrike" kern="1200" spc="0">
                <a:solidFill>
                  <a:srgbClr val="000000"/>
                </a:solidFill>
                <a:latin typeface="Calibri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D63D179D-BD02-479B-9C13-BFE3C3E83CD7}" type="datetime1">
              <a:rPr lang="ru-RU"/>
              <a:pPr lvl="0"/>
              <a:t>2026/5/28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7B331D-4253-4077-B834-92933530EF4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479" y="6356520"/>
            <a:ext cx="4114440" cy="3646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lvl="0" rtl="0" hangingPunct="0">
              <a:buNone/>
              <a:tabLst/>
              <a:defRPr lang="ru-RU" sz="2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805429-691F-49EB-B29B-026875CD7A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480" y="635652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ru-RU" sz="1800" b="0" i="0" u="none" strike="noStrike" kern="1200" spc="0">
                <a:solidFill>
                  <a:srgbClr val="000000"/>
                </a:solidFill>
                <a:latin typeface="Calibri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ABA166A1-0411-4034-9686-D6A2148423D0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1200" spc="0">
          <a:ln>
            <a:noFill/>
          </a:ln>
          <a:solidFill>
            <a:srgbClr val="000000"/>
          </a:solidFill>
          <a:latin typeface="Calibri Light" pitchFamily="18"/>
          <a:ea typeface="Microsoft YaHei" pitchFamily="2"/>
          <a:cs typeface="Arial" pitchFamily="2"/>
        </a:defRPr>
      </a:lvl1pPr>
    </p:titleStyle>
    <p:bodyStyle>
      <a:lvl1pPr lvl="0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1pPr>
      <a:lvl2pPr lvl="1" algn="l" rtl="0" hangingPunct="1">
        <a:lnSpc>
          <a:spcPct val="90000"/>
        </a:lnSpc>
        <a:spcBef>
          <a:spcPts val="0"/>
        </a:spcBef>
        <a:spcAft>
          <a:spcPts val="1417"/>
        </a:spcAft>
        <a:buSzPct val="75000"/>
        <a:buFont typeface="StarSymbol"/>
        <a:buChar char="–"/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2pPr>
      <a:lvl3pPr lvl="2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3pPr>
      <a:lvl4pPr lvl="3" algn="l" rtl="0" hangingPunct="1">
        <a:lnSpc>
          <a:spcPct val="90000"/>
        </a:lnSpc>
        <a:spcBef>
          <a:spcPts val="0"/>
        </a:spcBef>
        <a:spcAft>
          <a:spcPts val="1417"/>
        </a:spcAft>
        <a:buSzPct val="75000"/>
        <a:buFont typeface="StarSymbol"/>
        <a:buChar char="–"/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4pPr>
      <a:lvl5pPr lvl="4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5pPr>
      <a:lvl6pPr lvl="5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6pPr>
      <a:lvl7pPr lvl="6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7pPr>
      <a:lvl8pPr lvl="7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8pPr>
      <a:lvl9pPr marL="0" marR="0" lvl="0" indent="0" algn="l" rtl="0" hangingPunct="1">
        <a:lnSpc>
          <a:spcPct val="90000"/>
        </a:lnSpc>
        <a:spcBef>
          <a:spcPts val="1001"/>
        </a:spcBef>
        <a:spcAft>
          <a:spcPts val="1417"/>
        </a:spcAft>
        <a:buSzPct val="45000"/>
        <a:buFont typeface="Arial" pitchFamily="32"/>
        <a:buChar char="•"/>
        <a:tabLst/>
        <a:defRPr lang="ru-RU" sz="28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266C1-4A9B-4835-99CB-7D2629002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959" y="1709640"/>
            <a:ext cx="10515240" cy="2852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>
            <a:noAutofit/>
          </a:bodyPr>
          <a:lstStyle/>
          <a:p>
            <a:pPr lvl="0"/>
            <a:r>
              <a:rPr lang="ru-RU"/>
              <a:t>Для правки текста заголовка щелкните мышьюОбразец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4FB285-6472-4BE6-ABDE-B5BBD0FD8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959" y="4589640"/>
            <a:ext cx="10515240" cy="1499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t">
            <a:noAutofit/>
          </a:bodyPr>
          <a:lstStyle/>
          <a:p>
            <a:pPr lvl="0"/>
            <a:r>
              <a:rPr lang="ru-RU"/>
              <a:t>Для правки структуры щелкните мышью</a:t>
            </a:r>
          </a:p>
          <a:p>
            <a:pPr lvl="1"/>
            <a:r>
              <a:rPr lang="ru-RU"/>
              <a:t>Второй уровень структуры</a:t>
            </a:r>
          </a:p>
          <a:p>
            <a:pPr lvl="2"/>
            <a:r>
              <a:rPr lang="ru-RU"/>
              <a:t>Третий уровень структуры</a:t>
            </a:r>
          </a:p>
          <a:p>
            <a:pPr lvl="3"/>
            <a:r>
              <a:rPr lang="ru-RU"/>
              <a:t>Четвёртый уровень структуры</a:t>
            </a:r>
          </a:p>
          <a:p>
            <a:pPr lvl="4"/>
            <a:r>
              <a:rPr lang="ru-RU"/>
              <a:t>Пятый уровень структуры</a:t>
            </a:r>
          </a:p>
          <a:p>
            <a:pPr lvl="5"/>
            <a:r>
              <a:rPr lang="ru-RU"/>
              <a:t>Шестой уровень структуры</a:t>
            </a:r>
          </a:p>
          <a:p>
            <a:pPr lvl="6"/>
            <a:r>
              <a:rPr lang="ru-RU"/>
              <a:t>Седьмой уровень структуры</a:t>
            </a:r>
          </a:p>
          <a:p>
            <a:pPr lvl="7"/>
            <a:r>
              <a:rPr lang="ru-RU"/>
              <a:t>Восьмой уровень структуры</a:t>
            </a:r>
          </a:p>
          <a:p>
            <a:pPr lvl="0"/>
            <a:r>
              <a:rPr lang="ru-RU"/>
              <a:t>Девятый уровень структурыОбразец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D80D7D-C6C2-431B-B681-C71A9863348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080" y="635652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ru-RU" sz="1800" b="0" i="0" u="none" strike="noStrike" kern="1200" spc="0">
                <a:solidFill>
                  <a:srgbClr val="000000"/>
                </a:solidFill>
                <a:latin typeface="Calibri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FE65752A-BDF9-4083-ADC8-A64B9D5E8952}" type="datetime1">
              <a:rPr lang="ru-RU"/>
              <a:pPr lvl="0"/>
              <a:t>2026/5/28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018781-F855-4EAF-8374-6C155820CF8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479" y="6356520"/>
            <a:ext cx="4114440" cy="3646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lvl="0" rtl="0" hangingPunct="0">
              <a:buNone/>
              <a:tabLst/>
              <a:defRPr lang="ru-RU" sz="2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76F661-DE5D-47C7-8CF1-3AC79EC6E96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480" y="635652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 anchor="t" anchorCtr="0">
            <a:noAutofit/>
          </a:bodyPr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ru-RU" sz="1800" b="0" i="0" u="none" strike="noStrike" kern="1200" spc="0">
                <a:solidFill>
                  <a:srgbClr val="000000"/>
                </a:solidFill>
                <a:latin typeface="Calibri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FA9AAA17-D11D-4ADA-8371-8C57C88379A1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6000" b="0" i="0" u="none" strike="noStrike" kern="1200" spc="0">
          <a:ln>
            <a:noFill/>
          </a:ln>
          <a:solidFill>
            <a:srgbClr val="000000"/>
          </a:solidFill>
          <a:latin typeface="Calibri Light" pitchFamily="18"/>
          <a:ea typeface="Microsoft YaHei" pitchFamily="2"/>
          <a:cs typeface="Arial" pitchFamily="2"/>
        </a:defRPr>
      </a:lvl1pPr>
    </p:titleStyle>
    <p:bodyStyle>
      <a:lvl1pPr lvl="0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4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1pPr>
      <a:lvl2pPr lvl="1" algn="l" rtl="0" hangingPunct="1">
        <a:lnSpc>
          <a:spcPct val="90000"/>
        </a:lnSpc>
        <a:spcBef>
          <a:spcPts val="0"/>
        </a:spcBef>
        <a:spcAft>
          <a:spcPts val="1417"/>
        </a:spcAft>
        <a:buSzPct val="75000"/>
        <a:buFont typeface="StarSymbol"/>
        <a:buChar char="–"/>
        <a:tabLst/>
        <a:defRPr lang="ru-RU" sz="24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2pPr>
      <a:lvl3pPr lvl="2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4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3pPr>
      <a:lvl4pPr lvl="3" algn="l" rtl="0" hangingPunct="1">
        <a:lnSpc>
          <a:spcPct val="90000"/>
        </a:lnSpc>
        <a:spcBef>
          <a:spcPts val="0"/>
        </a:spcBef>
        <a:spcAft>
          <a:spcPts val="1417"/>
        </a:spcAft>
        <a:buSzPct val="75000"/>
        <a:buFont typeface="StarSymbol"/>
        <a:buChar char="–"/>
        <a:tabLst/>
        <a:defRPr lang="ru-RU" sz="24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4pPr>
      <a:lvl5pPr lvl="4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4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5pPr>
      <a:lvl6pPr lvl="5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4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6pPr>
      <a:lvl7pPr lvl="6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4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7pPr>
      <a:lvl8pPr lvl="7" algn="l" rtl="0" hangingPunct="1">
        <a:lnSpc>
          <a:spcPct val="90000"/>
        </a:lnSpc>
        <a:spcBef>
          <a:spcPts val="0"/>
        </a:spcBef>
        <a:spcAft>
          <a:spcPts val="1417"/>
        </a:spcAft>
        <a:buSzPct val="45000"/>
        <a:buFont typeface="StarSymbol"/>
        <a:buChar char="●"/>
        <a:tabLst/>
        <a:defRPr lang="ru-RU" sz="24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8pPr>
      <a:lvl9pPr marL="0" marR="0" lvl="0" indent="0" algn="l" rtl="0" hangingPunct="1">
        <a:lnSpc>
          <a:spcPct val="90000"/>
        </a:lnSpc>
        <a:spcBef>
          <a:spcPts val="1001"/>
        </a:spcBef>
        <a:spcAft>
          <a:spcPts val="1417"/>
        </a:spcAft>
        <a:buNone/>
        <a:tabLst/>
        <a:defRPr lang="ru-RU" sz="2400" b="0" i="0" u="none" strike="noStrike" kern="1200" spc="0">
          <a:ln>
            <a:noFill/>
          </a:ln>
          <a:solidFill>
            <a:srgbClr val="000000"/>
          </a:solidFill>
          <a:latin typeface="Calibri" pitchFamily="18"/>
          <a:ea typeface="Microsoft YaHei" pitchFamily="2"/>
          <a:cs typeface="Arial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CE497-6D84-41E4-A50D-3F122CF72C2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anchor="t"/>
          <a:lstStyle/>
          <a:p>
            <a:pPr lvl="0"/>
            <a:r>
              <a:rPr lang="ru-RU" sz="4400"/>
              <a:t>Tumodo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3FC6F9-D680-4D75-B9B7-D025A792D23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523880" y="3602160"/>
            <a:ext cx="9143640" cy="1655280"/>
          </a:xfrm>
        </p:spPr>
        <p:txBody>
          <a:bodyPr wrap="square" lIns="90000" tIns="45000" rIns="90000" bIns="45000" anchor="t">
            <a:noAutofit/>
          </a:bodyPr>
          <a:lstStyle/>
          <a:p>
            <a:pPr lvl="0">
              <a:spcAft>
                <a:spcPts val="0"/>
              </a:spcAft>
            </a:pPr>
            <a:r>
              <a:rPr lang="ru-RU" sz="4400">
                <a:latin typeface="Calibri Light" pitchFamily="18"/>
              </a:rPr>
              <a:t>Удобный сервис организации командировок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Слайд с клиен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BA828-4AC9-4209-88CB-C4F7EED05D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Нам доверяют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D0CF6C-A209-4D1A-A88C-C2DAA4EBB6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080" y="1834560"/>
            <a:ext cx="10515240" cy="4350960"/>
          </a:xfrm>
        </p:spPr>
        <p:txBody>
          <a:bodyPr/>
          <a:lstStyle/>
          <a:p>
            <a:pPr lvl="0">
              <a:buNone/>
            </a:pPr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F8467-72C6-462F-90DE-FD32E5B389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endParaRPr lang="ru-RU" sz="1800">
              <a:latin typeface="Calibri" pitchFamily="18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2A5C3-B780-44F3-8DC2-029B633A8D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1001"/>
              </a:spcBef>
              <a:buNone/>
            </a:pPr>
            <a:r>
              <a:rPr lang="ru-RU"/>
              <a:t>Командировки — обязательная, но сложная часть операционной работы компаний.</a:t>
            </a:r>
          </a:p>
          <a:p>
            <a:pPr lvl="0">
              <a:spcBef>
                <a:spcPts val="1001"/>
              </a:spcBef>
              <a:buNone/>
            </a:pPr>
            <a:r>
              <a:rPr lang="ru-RU"/>
              <a:t>Трудности, с которыми сталкивается бизнес: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хаос в бронированиях;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ручные процессы;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потеря чеков и документов;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перерасход бюджета;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риск ошибок и нарушений тревел-политики компании.</a:t>
            </a:r>
          </a:p>
          <a:p>
            <a:pPr lvl="0">
              <a:spcBef>
                <a:spcPts val="1001"/>
              </a:spcBef>
              <a:buNone/>
            </a:pPr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Как работают традиционные (офлайн) агентст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67C58-BA7C-4582-BC56-00857AC9978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Как работают традиционные (офлайн) агентства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2F9651-2C04-41B9-A907-DB27B47029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Зависимость от менеджера агентства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Бронирования по почте/телефону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Наценки и скрытые сборы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Медленные согласования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Сложный контроль расходов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Человеческий фактор и ошибки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Нет аналитики в реальном времени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Нет автоматизации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Нет прозрачности для финансов и HR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Как работают современные онлайн-серви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8AABD-F8BD-4363-84A2-12F6F35186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080" y="365040"/>
            <a:ext cx="10905120" cy="1325160"/>
          </a:xfrm>
        </p:spPr>
        <p:txBody>
          <a:bodyPr/>
          <a:lstStyle/>
          <a:p>
            <a:pPr lvl="0"/>
            <a:r>
              <a:rPr lang="ru-RU"/>
              <a:t>Как работают современные онлайн-сервисы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B29975-9438-4256-B6A3-2411BE6675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Единая платформа для бронирования услуг, управления поездками и финансами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Автоматизация процессов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Цифровые документы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Интеграции с бухгалтерией и HR-системами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Контроль бюджета в реальном времени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Роли и права доступа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Автоматическое соблюдение тревел-политики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Отчетность и аналитика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Служба поддержки 24/7 и сервис-менеджер</a:t>
            </a:r>
          </a:p>
          <a:p>
            <a:pPr lvl="0">
              <a:spcBef>
                <a:spcPts val="1001"/>
              </a:spcBef>
              <a:buNone/>
            </a:pPr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Почему выбирают Tumo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C1258-0A51-43C8-9B80-E37957B664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080" y="365040"/>
            <a:ext cx="10905120" cy="1325160"/>
          </a:xfrm>
        </p:spPr>
        <p:txBody>
          <a:bodyPr/>
          <a:lstStyle/>
          <a:p>
            <a:pPr lvl="0"/>
            <a:r>
              <a:rPr lang="ru-RU"/>
              <a:t>Почему выбирают Tumodo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6A7C42-9B5C-4F61-83FE-F06543D399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1001"/>
              </a:spcBef>
              <a:buNone/>
            </a:pPr>
            <a:r>
              <a:rPr lang="ru-RU"/>
              <a:t>Tumodo расширяет возможности онлайн-формата, внедряя уникальные инструменты для развития компаний.</a:t>
            </a:r>
          </a:p>
          <a:p>
            <a:pPr lvl="0">
              <a:spcBef>
                <a:spcPts val="1001"/>
              </a:spcBef>
              <a:buNone/>
            </a:pPr>
            <a:endParaRPr lang="ru-RU"/>
          </a:p>
          <a:p>
            <a:pPr lvl="0">
              <a:spcBef>
                <a:spcPts val="1001"/>
              </a:spcBef>
              <a:buNone/>
            </a:pPr>
            <a:r>
              <a:rPr lang="ru-RU"/>
              <a:t>Первые и единственные решения на рынке делового туризма: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Быстрое внедрение сервиса в бизнес-процессы клиента (в течение одного дня)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Самая полная интеграция с продуктами 1С (Бухгалтерия, ERP)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Онлайн-оформление услуг в аэропорту</a:t>
            </a:r>
          </a:p>
          <a:p>
            <a:pPr lvl="0">
              <a:spcBef>
                <a:spcPts val="1001"/>
              </a:spcBef>
              <a:buNone/>
            </a:pPr>
            <a:endParaRPr lang="ru-RU"/>
          </a:p>
          <a:p>
            <a:pPr lvl="0">
              <a:spcBef>
                <a:spcPts val="1001"/>
              </a:spcBef>
              <a:buNone/>
            </a:pPr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1A790-5B2A-48BF-97B1-37E391AFC0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endParaRPr lang="ru-RU" sz="1800">
              <a:latin typeface="Calibri" pitchFamily="1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04B4D2-7A69-4116-ACF3-DE68C35C20E4}"/>
              </a:ext>
            </a:extLst>
          </p:cNvPr>
          <p:cNvGraphicFramePr>
            <a:graphicFrameLocks noGrp="1"/>
          </p:cNvGraphicFramePr>
          <p:nvPr/>
        </p:nvGraphicFramePr>
        <p:xfrm>
          <a:off x="838080" y="312840"/>
          <a:ext cx="10514880" cy="5010840"/>
        </p:xfrm>
        <a:graphic>
          <a:graphicData uri="http://schemas.openxmlformats.org/drawingml/2006/table">
            <a:tbl>
              <a:tblPr/>
              <a:tblGrid>
                <a:gridCol w="2628720">
                  <a:extLst>
                    <a:ext uri="{9D8B030D-6E8A-4147-A177-3AD203B41FA5}">
                      <a16:colId xmlns:a16="http://schemas.microsoft.com/office/drawing/2014/main" val="3161838686"/>
                    </a:ext>
                  </a:extLst>
                </a:gridCol>
                <a:gridCol w="2628720">
                  <a:extLst>
                    <a:ext uri="{9D8B030D-6E8A-4147-A177-3AD203B41FA5}">
                      <a16:colId xmlns:a16="http://schemas.microsoft.com/office/drawing/2014/main" val="1943406441"/>
                    </a:ext>
                  </a:extLst>
                </a:gridCol>
                <a:gridCol w="2628720">
                  <a:extLst>
                    <a:ext uri="{9D8B030D-6E8A-4147-A177-3AD203B41FA5}">
                      <a16:colId xmlns:a16="http://schemas.microsoft.com/office/drawing/2014/main" val="3151432720"/>
                    </a:ext>
                  </a:extLst>
                </a:gridCol>
                <a:gridCol w="2629080">
                  <a:extLst>
                    <a:ext uri="{9D8B030D-6E8A-4147-A177-3AD203B41FA5}">
                      <a16:colId xmlns:a16="http://schemas.microsoft.com/office/drawing/2014/main" val="18757372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Офлайн-агентства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Онлайн-сервисы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Tumodo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6975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Скорость оформления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Низкая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Высокая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78580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Прозрачность цен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Ограниченная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Удовлетворительная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Полная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25096"/>
                  </a:ext>
                </a:extLst>
              </a:tr>
              <a:tr h="1207799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Контроль бюджета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Постфактум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Отчеты для планирования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В реальном времени + отчеты для планирования</a:t>
                      </a:r>
                    </a:p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endParaRPr lang="ru-RU" sz="1800" b="0" i="0" u="none" strike="noStrike" kern="1200" spc="0">
                        <a:ln>
                          <a:noFill/>
                        </a:ln>
                        <a:solidFill>
                          <a:srgbClr val="000000"/>
                        </a:solidFill>
                        <a:latin typeface="Calibri" pitchFamily="18"/>
                        <a:ea typeface="Microsoft YaHei" pitchFamily="2"/>
                        <a:cs typeface="Arial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985688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Документооборот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Ручной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Автоматизированный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Автоматизированный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798377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Поддержка сотрудников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Отсутствует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В стандартные рабочие часы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Круглосуточная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449601"/>
                  </a:ext>
                </a:extLst>
              </a:tr>
              <a:tr h="649800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Роли доступа и гибкие настройки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Зависит от сервиса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Расширенные роли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18490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Аналитика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Минимальная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Есть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Углубленная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8305"/>
                  </a:ext>
                </a:extLst>
              </a:tr>
              <a:tr h="649800"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Прямые договоры с авиакомпаниями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До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ru-RU" sz="1800" b="0" i="0" u="none" strike="noStrike" kern="1200" spc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18"/>
                          <a:ea typeface="Microsoft YaHei" pitchFamily="2"/>
                          <a:cs typeface="Arial" pitchFamily="2"/>
                        </a:rPr>
                        <a:t>Свыше 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433176"/>
                  </a:ext>
                </a:extLst>
              </a:tr>
            </a:tbl>
          </a:graphicData>
        </a:graphic>
      </p:graphicFrame>
      <p:sp>
        <p:nvSpPr>
          <p:cNvPr id="4" name="TextBox 7">
            <a:extLst>
              <a:ext uri="{FF2B5EF4-FFF2-40B4-BE49-F238E27FC236}">
                <a16:creationId xmlns:a16="http://schemas.microsoft.com/office/drawing/2014/main" id="{002E6C78-A3A1-4F7B-A627-A7622F3AABFF}"/>
              </a:ext>
            </a:extLst>
          </p:cNvPr>
          <p:cNvSpPr/>
          <p:nvPr/>
        </p:nvSpPr>
        <p:spPr>
          <a:xfrm>
            <a:off x="838080" y="5418720"/>
            <a:ext cx="10932120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Microsoft YaHei" pitchFamily="2"/>
                <a:cs typeface="Arial" pitchFamily="2"/>
              </a:rPr>
              <a:t>Tumodo превращает командировки из хаотичной операционки в управляемый бизнес-процесс.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umodo — надежен в бизнесе, удобен в рабо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423C9-7858-4476-AADE-3F4555EC4DE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anchor="t"/>
          <a:lstStyle/>
          <a:p>
            <a:pPr lvl="0"/>
            <a:r>
              <a:rPr lang="ru-RU" sz="4400"/>
              <a:t>Tumodo — надежен в бизнесе, удобен в работе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DC3090-FBA4-427E-8340-20F51CB7326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None/>
            </a:pPr>
            <a:endParaRPr lang="ru-RU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E8548-073C-4E72-A4E6-A184BF1D59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endParaRPr lang="ru-RU" sz="1800">
              <a:latin typeface="Calibri" pitchFamily="18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3E7251-4C80-42CA-9016-6AD1D720AF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1001"/>
              </a:spcBef>
              <a:buNone/>
            </a:pPr>
            <a:r>
              <a:rPr lang="ru-RU" b="1"/>
              <a:t>Создан для роста </a:t>
            </a:r>
            <a:br>
              <a:rPr lang="ru-RU"/>
            </a:br>
            <a:r>
              <a:rPr lang="ru-RU"/>
              <a:t>Деловые поездки должны помогать бизнесу расти, а не тормозить процессы. Tumodo упрощает управление командировками, чтобы сотрудники могли сфокусироваться на более важной задаче — развитии компании.</a:t>
            </a:r>
          </a:p>
          <a:p>
            <a:pPr lvl="0">
              <a:spcBef>
                <a:spcPts val="1001"/>
              </a:spcBef>
              <a:buNone/>
            </a:pPr>
            <a:r>
              <a:rPr lang="ru-RU" b="1"/>
              <a:t>Управление командировками под ключ </a:t>
            </a:r>
            <a:br>
              <a:rPr lang="ru-RU"/>
            </a:br>
            <a:r>
              <a:rPr lang="ru-RU"/>
              <a:t>От первого бронирования до финального отчета: Tumodo выстраивает все элементы деловых поездок в единый цикл, удобный для каждого.</a:t>
            </a:r>
          </a:p>
          <a:p>
            <a:pPr lvl="0">
              <a:spcBef>
                <a:spcPts val="1001"/>
              </a:spcBef>
              <a:buNone/>
            </a:pPr>
            <a:r>
              <a:rPr lang="ru-RU" b="1"/>
              <a:t>Ясные процессы и условия </a:t>
            </a:r>
            <a:br>
              <a:rPr lang="ru-RU"/>
            </a:br>
            <a:r>
              <a:rPr lang="ru-RU"/>
              <a:t>Понятные сценарии, встроенная тревел-политика, удобный интерфейс и прозрачное ценообразование. Никаких сюрпризов — вы всегда понимаете, что происходит на каждом этапе.</a:t>
            </a:r>
          </a:p>
          <a:p>
            <a:pPr lvl="0">
              <a:spcBef>
                <a:spcPts val="1001"/>
              </a:spcBef>
              <a:buNone/>
            </a:pPr>
            <a:r>
              <a:rPr lang="ru-RU" b="1"/>
              <a:t>Технологии с человеческим подходом </a:t>
            </a:r>
            <a:br>
              <a:rPr lang="ru-RU"/>
            </a:br>
            <a:r>
              <a:rPr lang="ru-RU"/>
              <a:t>Tumodo сочетает новые технологии с заботливой поддержкой 24/7. Мы остаемся рядом на каждом этапе и быстро подключаемся, если появляются вопросы.</a:t>
            </a:r>
          </a:p>
          <a:p>
            <a:pPr lvl="0">
              <a:spcBef>
                <a:spcPts val="1001"/>
              </a:spcBef>
              <a:buNone/>
            </a:pPr>
            <a:r>
              <a:rPr lang="ru-RU" b="1"/>
              <a:t>Надежный партнер </a:t>
            </a:r>
            <a:br>
              <a:rPr lang="ru-RU"/>
            </a:br>
            <a:r>
              <a:rPr lang="ru-RU"/>
              <a:t>С 2021 года Tumodo помогает компаниям по всему миру управлять командировками уверенно. Нам доверяют более 1 000 клиентов.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Процесс подключения к Tumo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E492A-F7FA-43EB-9718-CDEE73B866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Процесс подключения к Tumodo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1585E-88A3-40DA-8DE6-FE56AAF95A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Подписание договора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Знакомство с аккаунт-менеджером, сбор информации по функциям сервиса, необходимым клиенту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Знакомство со службой поддержки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Настройка личного кабинета под запрос компании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Обучение работе с платформой для ваших команд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Контрольная встреча и сбор обратной связи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13EA9-225F-401F-884E-701DE9A47E1D}"/>
              </a:ext>
            </a:extLst>
          </p:cNvPr>
          <p:cNvSpPr/>
          <p:nvPr/>
        </p:nvSpPr>
        <p:spPr>
          <a:xfrm>
            <a:off x="9650880" y="1721160"/>
            <a:ext cx="2064240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5000" rIns="9000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Microsoft YaHei" pitchFamily="2"/>
                <a:cs typeface="Arial" pitchFamily="2"/>
              </a:rPr>
              <a:t>Изобразить схемой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Создание и оформление поездки в Tumo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7F5A2-1CA9-4E15-A239-CBFAB05B0D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Создание и оформление поездки в Tumodo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F2804E-9006-4911-AA35-EA33DDE140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Создание поездки одним кликом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Бронирование услуг на даты и город(-а) назначения, указанные в приказе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Согласование поездки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Оформление/автовыписка услуг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Отправка документов по поездке или Travel Plan сотруднику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47523-762F-4D4E-B63F-FD7D6379C8F9}"/>
              </a:ext>
            </a:extLst>
          </p:cNvPr>
          <p:cNvSpPr/>
          <p:nvPr/>
        </p:nvSpPr>
        <p:spPr>
          <a:xfrm>
            <a:off x="9650880" y="1721160"/>
            <a:ext cx="2064240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5000" rIns="9000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Microsoft YaHei" pitchFamily="2"/>
                <a:cs typeface="Arial" pitchFamily="2"/>
              </a:rPr>
              <a:t>Изобразить схемой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Процесс передачи отчетности в вашу учетную систем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DED56-1328-4A2A-B90E-54C19D76D1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Процесс передачи отчетности в вашу учетную систему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753DA5-B7E9-443A-A638-14A5B7AC2E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Tumodo автоматически формирует авансовый отчет по оформленным онлайн услугам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Сотрудник переходит в раздел «Командировочные документы» для внесения дополнительных расходов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Tumodo формирует авансовый отчет (суточные, авансы, расходы сотрудника)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Сотрудник отправляет авансовый отчет на согласование бухгалтеру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56FBC-1EA7-4834-8A0F-EE7F387A5500}"/>
              </a:ext>
            </a:extLst>
          </p:cNvPr>
          <p:cNvSpPr/>
          <p:nvPr/>
        </p:nvSpPr>
        <p:spPr>
          <a:xfrm>
            <a:off x="9605880" y="1456200"/>
            <a:ext cx="2064240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5000" rIns="9000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Microsoft YaHei" pitchFamily="2"/>
                <a:cs typeface="Arial" pitchFamily="2"/>
              </a:rPr>
              <a:t>Изобразить схемой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Гибкий сервис для каждой ро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406F37-5483-441E-8165-7B46A00310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anchor="t"/>
          <a:lstStyle/>
          <a:p>
            <a:pPr lvl="0"/>
            <a:r>
              <a:rPr lang="ru-RU" sz="4400"/>
              <a:t>Гибкий сервис для каждой роли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64119F-76F3-4AEA-A002-D04B457D2F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None/>
            </a:pPr>
            <a:endParaRPr lang="ru-RU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Все поездки на одном рабочем стол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B521C-6AEF-43DC-BFFA-31EE013D58F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Все поездки на одном рабочем столе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A1A74D-84C7-40BA-89D2-7B7153E5189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1001"/>
              </a:spcBef>
              <a:buNone/>
            </a:pPr>
            <a:r>
              <a:rPr lang="ru-RU"/>
              <a:t>Здесь скрин рабочего стола и на нем баблы с подписями (обозначить иконки услуг, все разделы и тд)</a:t>
            </a:r>
          </a:p>
          <a:p>
            <a:pPr lvl="0">
              <a:spcBef>
                <a:spcPts val="1001"/>
              </a:spcBef>
              <a:buNone/>
            </a:pPr>
            <a:endParaRPr lang="ru-RU"/>
          </a:p>
          <a:p>
            <a:pPr lvl="0">
              <a:spcBef>
                <a:spcPts val="1001"/>
              </a:spcBef>
              <a:buNone/>
            </a:pPr>
            <a:endParaRPr lang="ru-RU"/>
          </a:p>
          <a:p>
            <a:pPr lvl="0">
              <a:spcBef>
                <a:spcPts val="1001"/>
              </a:spcBef>
              <a:buNone/>
            </a:pPr>
            <a:endParaRPr lang="ru-RU"/>
          </a:p>
          <a:p>
            <a:pPr lvl="0">
              <a:spcBef>
                <a:spcPts val="1001"/>
              </a:spcBef>
              <a:buNone/>
            </a:pPr>
            <a:r>
              <a:rPr lang="ru-RU"/>
              <a:t>В Tumodo легко настроить уровни доступа — сотруднику будут видны только те разделы, которые соответствуют его роли в компании.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F5256-00F8-4A60-B645-15305A821C4B}"/>
              </a:ext>
            </a:extLst>
          </p:cNvPr>
          <p:cNvSpPr/>
          <p:nvPr/>
        </p:nvSpPr>
        <p:spPr>
          <a:xfrm>
            <a:off x="5325840" y="5190480"/>
            <a:ext cx="6642360" cy="364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5000" rIns="9000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Microsoft YaHei" pitchFamily="2"/>
                <a:cs typeface="Arial" pitchFamily="2"/>
              </a:rPr>
              <a:t>Можно на след слайд положить табличку с возможностями ролей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Тревел-координато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21CC7B-E675-4032-B1D3-58EF364F401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Тревел-координатору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E6FCB5-A5FB-4C6D-BC48-12FA81C2EC5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080" y="1825560"/>
            <a:ext cx="7547759" cy="4350960"/>
          </a:xfrm>
        </p:spPr>
        <p:txBody>
          <a:bodyPr/>
          <a:lstStyle/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Бронируйте все услуги в едином интерфейсе — с выбором места, раннего заезда и позднего выезда, питания, группового размещения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Создавайте отделы и указывайте ответственных лиц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Настраивайте схемы согласования, назначайте согласующих и замещающих на время отпуска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Переносите правила командировок в онлайн — автоматизируйте тревел-политику</a:t>
            </a:r>
          </a:p>
          <a:p>
            <a:pPr lvl="0">
              <a:spcBef>
                <a:spcPts val="1001"/>
              </a:spcBef>
              <a:buNone/>
            </a:pPr>
            <a:endParaRPr lang="ru-RU"/>
          </a:p>
          <a:p>
            <a:pPr lvl="0">
              <a:spcBef>
                <a:spcPts val="1001"/>
              </a:spcBef>
              <a:buNone/>
            </a:pPr>
            <a:endParaRPr lang="ru-RU"/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BE053B11-22D9-493F-A84E-68245D32877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386560" y="2761200"/>
            <a:ext cx="3625920" cy="1981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Руководител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08120-84F4-4746-A902-CB784975633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Руководителю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4F9CFC-CC68-4F70-AC7F-2025F3D669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080" y="1825560"/>
            <a:ext cx="6387119" cy="4350960"/>
          </a:xfrm>
        </p:spPr>
        <p:txBody>
          <a:bodyPr/>
          <a:lstStyle/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Сегментируйте данные о поездках и планируйте бюджет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Используйте аналитики для построения отчетов и процессов согласования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Выгружайте финансовые отчеты по разным срезам — сотрудникам, услугам, общим тратам на поездки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Получайте скидки и кешбэк от авиакомпаний и отелей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80629067-6157-4DCE-882F-C531D8E2C47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05400" y="3247200"/>
            <a:ext cx="4148280" cy="2508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Бухгалте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B8AF3-F421-4815-B47E-274C492D83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Бухгалтеру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EAACC6-3D3B-47D2-95B3-F955C1EC92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080" y="1825560"/>
            <a:ext cx="5643000" cy="4350960"/>
          </a:xfrm>
        </p:spPr>
        <p:txBody>
          <a:bodyPr/>
          <a:lstStyle/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Интеграции с 1С:Бухгалтерия, 1С:ERP и другими системами учета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Автоматическое формирование закрывающих документов</a:t>
            </a:r>
          </a:p>
          <a:p>
            <a:pPr lvl="0">
              <a:spcBef>
                <a:spcPts val="1001"/>
              </a:spcBef>
              <a:buClr>
                <a:srgbClr val="FF0000"/>
              </a:buClr>
              <a:buFont typeface="Arial" pitchFamily="32"/>
              <a:buChar char="•"/>
            </a:pPr>
            <a:r>
              <a:rPr lang="ru-RU"/>
              <a:t>Выгрузка ОДДС (отчетов о движении денежных средств) и актов сверки</a:t>
            </a:r>
          </a:p>
          <a:p>
            <a:pPr lvl="0">
              <a:spcBef>
                <a:spcPts val="1001"/>
              </a:spcBef>
              <a:buClr>
                <a:srgbClr val="FF0000"/>
              </a:buClr>
              <a:buFont typeface="Arial" pitchFamily="32"/>
              <a:buChar char="•"/>
            </a:pPr>
            <a:r>
              <a:rPr lang="ru-RU"/>
              <a:t>Авторасчет суточных</a:t>
            </a:r>
          </a:p>
          <a:p>
            <a:pPr lvl="0">
              <a:spcBef>
                <a:spcPts val="1001"/>
              </a:spcBef>
              <a:buNone/>
            </a:pPr>
            <a:endParaRPr lang="ru-RU"/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9B85A066-22AD-47BA-AB02-3F023598ACC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95880" y="2303640"/>
            <a:ext cx="6095519" cy="267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Сотрудник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A422E-CECF-4944-B6DC-8CD5E58073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Сотруднику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7F073D-AA70-4BBD-A052-3CF00442A8D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080" y="1825560"/>
            <a:ext cx="6978599" cy="4350960"/>
          </a:xfrm>
        </p:spPr>
        <p:txBody>
          <a:bodyPr/>
          <a:lstStyle/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Удобное оформление услуг для командировки — гибкий поиск, выбор мест и питания, заказ такси с ваучером и др.</a:t>
            </a:r>
          </a:p>
          <a:p>
            <a:pPr lvl="0">
              <a:spcBef>
                <a:spcPts val="1001"/>
              </a:spcBef>
              <a:buFont typeface="Arial" pitchFamily="32"/>
              <a:buChar char="•"/>
            </a:pPr>
            <a:r>
              <a:rPr lang="ru-RU"/>
              <a:t>Быстрое согласование бронирований с руководителем</a:t>
            </a:r>
          </a:p>
          <a:p>
            <a:pPr lvl="0">
              <a:spcBef>
                <a:spcPts val="1001"/>
              </a:spcBef>
              <a:buClr>
                <a:srgbClr val="FF0000"/>
              </a:buClr>
              <a:buFont typeface="Arial" pitchFamily="32"/>
              <a:buChar char="•"/>
            </a:pPr>
            <a:r>
              <a:rPr lang="ru-RU"/>
              <a:t>Служба поддержки 24/7</a:t>
            </a:r>
          </a:p>
          <a:p>
            <a:pPr lvl="0">
              <a:spcBef>
                <a:spcPts val="1001"/>
              </a:spcBef>
              <a:buClr>
                <a:srgbClr val="FF0000"/>
              </a:buClr>
              <a:buFont typeface="Arial" pitchFamily="32"/>
              <a:buChar char="•"/>
            </a:pPr>
            <a:r>
              <a:rPr lang="ru-RU"/>
              <a:t>Автоматическое формирование авансовых отчетов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C625587-41EE-4D52-AC62-DD776E780249}"/>
              </a:ext>
            </a:extLst>
          </p:cNvPr>
          <p:cNvSpPr/>
          <p:nvPr/>
        </p:nvSpPr>
        <p:spPr>
          <a:xfrm>
            <a:off x="8480520" y="2413440"/>
            <a:ext cx="2697840" cy="2010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5000" rIns="90000" bIns="450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Microsoft YaHei" pitchFamily="2"/>
                <a:cs typeface="Arial" pitchFamily="2"/>
              </a:rPr>
              <a:t>Тут скрин процесса бронирования, где видны всякие фичи — иконка щитка тревел-политики, закреп рейсов, выбор места, ранний заезд и тд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О на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929D0D-01E7-45DC-892A-9D8E61F16C9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О нас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E55C28-5104-43AF-9E58-A9BCDA36575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080" y="1834560"/>
            <a:ext cx="10515240" cy="4350960"/>
          </a:xfrm>
        </p:spPr>
        <p:txBody>
          <a:bodyPr/>
          <a:lstStyle/>
          <a:p>
            <a:pPr lvl="0">
              <a:spcBef>
                <a:spcPts val="1001"/>
              </a:spcBef>
              <a:buNone/>
            </a:pPr>
            <a:r>
              <a:rPr lang="ru-RU"/>
              <a:t>Стандартные слайды про цифры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4D388-C69F-414F-99DA-72F7239E704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Контакты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052063-024C-4674-AFA7-42F28F640D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8080" y="1834560"/>
            <a:ext cx="10515240" cy="4350960"/>
          </a:xfrm>
        </p:spPr>
        <p:txBody>
          <a:bodyPr/>
          <a:lstStyle/>
          <a:p>
            <a:pPr lvl="0">
              <a:spcBef>
                <a:spcPts val="1001"/>
              </a:spcBef>
              <a:buNone/>
            </a:pPr>
            <a:r>
              <a:rPr lang="ru-RU"/>
              <a:t>Хотите узнать больше о Tumodo и обсудить сотрудничество? Свяжитесь с нами!</a:t>
            </a:r>
          </a:p>
          <a:p>
            <a:pPr lvl="0">
              <a:spcBef>
                <a:spcPts val="1001"/>
              </a:spcBef>
              <a:buNone/>
            </a:pPr>
            <a:endParaRPr lang="ru-RU"/>
          </a:p>
          <a:p>
            <a:pPr lvl="0">
              <a:spcBef>
                <a:spcPts val="1001"/>
              </a:spcBef>
              <a:buNone/>
            </a:pPr>
            <a:r>
              <a:rPr lang="ru-RU"/>
              <a:t>(стандартные контакты)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бычный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Обычный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Обычный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Office PowerPoint</Application>
  <PresentationFormat>Widescreen</PresentationFormat>
  <Paragraphs>156</Paragraphs>
  <Slides>20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StarSymbol</vt:lpstr>
      <vt:lpstr>Times New Roman</vt:lpstr>
      <vt:lpstr>Обычный</vt:lpstr>
      <vt:lpstr>Обычный 1</vt:lpstr>
      <vt:lpstr>Обычный 2</vt:lpstr>
      <vt:lpstr>Tumodo</vt:lpstr>
      <vt:lpstr>Нам доверяют</vt:lpstr>
      <vt:lpstr>PowerPoint Presentation</vt:lpstr>
      <vt:lpstr>Как работают традиционные (офлайн) агентства</vt:lpstr>
      <vt:lpstr>Как работают современные онлайн-сервисы</vt:lpstr>
      <vt:lpstr>Почему выбирают Tumodo</vt:lpstr>
      <vt:lpstr>PowerPoint Presentation</vt:lpstr>
      <vt:lpstr>Tumodo — надежен в бизнесе, удобен в работе</vt:lpstr>
      <vt:lpstr>PowerPoint Presentation</vt:lpstr>
      <vt:lpstr>Процесс подключения к Tumodo</vt:lpstr>
      <vt:lpstr>Создание и оформление поездки в Tumodo</vt:lpstr>
      <vt:lpstr>Процесс передачи отчетности в вашу учетную систему</vt:lpstr>
      <vt:lpstr>Гибкий сервис для каждой роли</vt:lpstr>
      <vt:lpstr>Все поездки на одном рабочем столе</vt:lpstr>
      <vt:lpstr>Тревел-координатору</vt:lpstr>
      <vt:lpstr>Руководителю</vt:lpstr>
      <vt:lpstr>Бухгалтеру</vt:lpstr>
      <vt:lpstr>Сотруднику</vt:lpstr>
      <vt:lpstr>О нас</vt:lpstr>
      <vt:lpstr>Контакты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Tumodo</dc:title>
  <cp:lastModifiedBy>app</cp:lastModifiedBy>
  <cp:revision>1</cp:revision>
  <dcterms:modified xsi:type="dcterms:W3CDTF">2026-05-28T15:31:17Z</dcterms:modified>
</cp:coreProperties>
</file>